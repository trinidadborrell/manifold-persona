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554480"/>
            <a:ext cx="10362895" cy="2011680"/>
          </a:xfrm>
          <a:prstGeom prst="rect">
            <a:avLst/>
          </a:prstGeom>
          <a:noFill/>
        </p:spPr>
        <p:txBody>
          <a:bodyPr wrap="square" anchor="b" lIns="45720" rIns="45720" tIns="27432" bIns="27432">
            <a:spAutoFit/>
          </a:bodyPr>
          <a:lstStyle/>
          <a:p>
            <a:pPr>
              <a:lnSpc>
                <a:spcPct val="100000"/>
              </a:lnSpc>
              <a:spcAft>
                <a:spcPts val="1000"/>
              </a:spcAft>
            </a:pPr>
            <a:r>
              <a:rPr sz="4000" b="1" i="0">
                <a:solidFill>
                  <a:srgbClr val="222222"/>
                </a:solidFill>
                <a:latin typeface="Charter"/>
              </a:rPr>
              <a:t>Can a base language model play a role from a plain-text prompt?</a:t>
            </a:r>
          </a:p>
        </p:txBody>
      </p:sp>
      <p:sp>
        <p:nvSpPr>
          <p:cNvPr id="3" name="TextBox 2"/>
          <p:cNvSpPr txBox="1"/>
          <p:nvPr/>
        </p:nvSpPr>
        <p:spPr>
          <a:xfrm>
            <a:off x="914400" y="3840480"/>
            <a:ext cx="10362895" cy="1097280"/>
          </a:xfrm>
          <a:prstGeom prst="rect">
            <a:avLst/>
          </a:prstGeom>
          <a:noFill/>
        </p:spPr>
        <p:txBody>
          <a:bodyPr wrap="square" anchor="t" lIns="45720" rIns="45720" tIns="27432" bIns="27432">
            <a:spAutoFit/>
          </a:bodyPr>
          <a:lstStyle/>
          <a:p>
            <a:pPr>
              <a:lnSpc>
                <a:spcPct val="110000"/>
              </a:lnSpc>
              <a:spcAft>
                <a:spcPts val="600"/>
              </a:spcAft>
            </a:pPr>
            <a:r>
              <a:rPr sz="2400" b="0" i="0">
                <a:solidFill>
                  <a:srgbClr val="2F7F7A"/>
                </a:solidFill>
                <a:latin typeface="Charter"/>
              </a:rPr>
              <a:t>Check-in, 16 October 2026</a:t>
            </a:r>
          </a:p>
          <a:p>
            <a:pPr>
              <a:lnSpc>
                <a:spcPct val="110000"/>
              </a:lnSpc>
              <a:spcAft>
                <a:spcPts val="1000"/>
              </a:spcAft>
            </a:pPr>
            <a:r>
              <a:rPr sz="2000" b="0" i="0">
                <a:solidFill>
                  <a:srgbClr val="666666"/>
                </a:solidFill>
                <a:latin typeface="Charter"/>
              </a:rPr>
              <a:t>OLMo-2 7B base, 20 roles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11094415" cy="1234440"/>
          </a:xfrm>
          <a:prstGeom prst="rect">
            <a:avLst/>
          </a:prstGeom>
          <a:noFill/>
        </p:spPr>
        <p:txBody>
          <a:bodyPr wrap="square" anchor="b" lIns="45720" rIns="45720" tIns="27432" bIns="27432">
            <a:spAutoFit/>
          </a:bodyPr>
          <a:lstStyle/>
          <a:p>
            <a:pPr>
              <a:lnSpc>
                <a:spcPct val="100000"/>
              </a:lnSpc>
              <a:spcAft>
                <a:spcPts val="0"/>
              </a:spcAft>
            </a:pPr>
            <a:r>
              <a:rPr sz="2600" b="1" i="0">
                <a:solidFill>
                  <a:srgbClr val="222222"/>
                </a:solidFill>
                <a:latin typeface="Charter"/>
              </a:rPr>
              <a:t>The base model seems to follow example answers much more than a role description</a:t>
            </a:r>
          </a:p>
        </p:txBody>
      </p:sp>
      <p:sp>
        <p:nvSpPr>
          <p:cNvPr id="3" name="TextBox 2"/>
          <p:cNvSpPr txBox="1"/>
          <p:nvPr/>
        </p:nvSpPr>
        <p:spPr>
          <a:xfrm>
            <a:off x="11185855" y="6446520"/>
            <a:ext cx="548640" cy="274320"/>
          </a:xfrm>
          <a:prstGeom prst="rect">
            <a:avLst/>
          </a:prstGeom>
          <a:noFill/>
        </p:spPr>
        <p:txBody>
          <a:bodyPr wrap="square" anchor="t" lIns="45720" rIns="45720" tIns="27432" bIns="27432">
            <a:spAutoFit/>
          </a:bodyPr>
          <a:lstStyle/>
          <a:p>
            <a:pPr algn="r"/>
            <a:r>
              <a:rPr sz="1000" b="0" i="0">
                <a:solidFill>
                  <a:srgbClr val="666666"/>
                </a:solidFill>
                <a:latin typeface="Charter"/>
              </a:rPr>
              <a:t>2</a:t>
            </a:r>
          </a:p>
        </p:txBody>
      </p:sp>
      <p:sp>
        <p:nvSpPr>
          <p:cNvPr id="4" name="TextBox 3"/>
          <p:cNvSpPr txBox="1"/>
          <p:nvPr/>
        </p:nvSpPr>
        <p:spPr>
          <a:xfrm>
            <a:off x="548640" y="1691639"/>
            <a:ext cx="10637215" cy="3291840"/>
          </a:xfrm>
          <a:prstGeom prst="rect">
            <a:avLst/>
          </a:prstGeom>
          <a:noFill/>
        </p:spPr>
        <p:txBody>
          <a:bodyPr wrap="square" anchor="t" lIns="45720" rIns="45720" tIns="27432" bIns="27432">
            <a:spAutoFit/>
          </a:bodyPr>
          <a:lstStyle/>
          <a:p>
            <a:pPr>
              <a:lnSpc>
                <a:spcPct val="110000"/>
              </a:lnSpc>
              <a:spcAft>
                <a:spcPts val="1800"/>
              </a:spcAft>
            </a:pPr>
            <a:r>
              <a:rPr sz="2200" b="0" i="0">
                <a:solidFill>
                  <a:srgbClr val="222222"/>
                </a:solidFill>
                <a:latin typeface="Charter"/>
              </a:rPr>
              <a:t>When the prompt shows two example answers from a role, the OLMo-2 7B base model writes replies whose role two blind judges can name about 40% of the time, which passes the bar I set before the run.</a:t>
            </a:r>
          </a:p>
          <a:p>
            <a:pPr>
              <a:lnSpc>
                <a:spcPct val="110000"/>
              </a:lnSpc>
              <a:spcAft>
                <a:spcPts val="1800"/>
              </a:spcAft>
            </a:pPr>
            <a:r>
              <a:rPr sz="2200" b="0" i="0">
                <a:solidFill>
                  <a:srgbClr val="222222"/>
                </a:solidFill>
                <a:latin typeface="Charter"/>
              </a:rPr>
              <a:t>With only a description of the role it stays under 20%, and when the examples come from a different role the judges name that other role, so the model seems to follow the examples much more than the description.</a:t>
            </a:r>
          </a:p>
        </p:txBody>
      </p:sp>
      <p:sp>
        <p:nvSpPr>
          <p:cNvPr id="5" name="TextBox 4"/>
          <p:cNvSpPr txBox="1"/>
          <p:nvPr/>
        </p:nvSpPr>
        <p:spPr>
          <a:xfrm>
            <a:off x="548640" y="5257800"/>
            <a:ext cx="11094415" cy="548640"/>
          </a:xfrm>
          <a:prstGeom prst="rect">
            <a:avLst/>
          </a:prstGeom>
          <a:noFill/>
        </p:spPr>
        <p:txBody>
          <a:bodyPr wrap="square" anchor="t" lIns="45720" rIns="45720" tIns="27432" bIns="27432">
            <a:spAutoFit/>
          </a:bodyPr>
          <a:lstStyle/>
          <a:p>
            <a:pPr>
              <a:lnSpc>
                <a:spcPct val="110000"/>
              </a:lnSpc>
              <a:spcAft>
                <a:spcPts val="1000"/>
              </a:spcAft>
            </a:pPr>
            <a:r>
              <a:rPr sz="2200" b="0" i="0">
                <a:solidFill>
                  <a:srgbClr val="2F7F7A"/>
                </a:solidFill>
                <a:latin typeface="Charter"/>
              </a:rPr>
              <a:t>What I'd like from today: answers to the three questions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11094415" cy="1234440"/>
          </a:xfrm>
          <a:prstGeom prst="rect">
            <a:avLst/>
          </a:prstGeom>
          <a:noFill/>
        </p:spPr>
        <p:txBody>
          <a:bodyPr wrap="square" anchor="b" lIns="45720" rIns="45720" tIns="27432" bIns="27432">
            <a:spAutoFit/>
          </a:bodyPr>
          <a:lstStyle/>
          <a:p>
            <a:pPr>
              <a:lnSpc>
                <a:spcPct val="100000"/>
              </a:lnSpc>
              <a:spcAft>
                <a:spcPts val="0"/>
              </a:spcAft>
            </a:pPr>
            <a:r>
              <a:rPr sz="2600" b="1" i="0">
                <a:solidFill>
                  <a:srgbClr val="222222"/>
                </a:solidFill>
                <a:latin typeface="Charter"/>
              </a:rPr>
              <a:t>Since 30/09 I worked through nine questions, in this order</a:t>
            </a:r>
          </a:p>
        </p:txBody>
      </p:sp>
      <p:sp>
        <p:nvSpPr>
          <p:cNvPr id="3" name="TextBox 2"/>
          <p:cNvSpPr txBox="1"/>
          <p:nvPr/>
        </p:nvSpPr>
        <p:spPr>
          <a:xfrm>
            <a:off x="11185855" y="6446520"/>
            <a:ext cx="548640" cy="274320"/>
          </a:xfrm>
          <a:prstGeom prst="rect">
            <a:avLst/>
          </a:prstGeom>
          <a:noFill/>
        </p:spPr>
        <p:txBody>
          <a:bodyPr wrap="square" anchor="t" lIns="45720" rIns="45720" tIns="27432" bIns="27432">
            <a:spAutoFit/>
          </a:bodyPr>
          <a:lstStyle/>
          <a:p>
            <a:pPr algn="r"/>
            <a:r>
              <a:rPr sz="1000" b="0" i="0">
                <a:solidFill>
                  <a:srgbClr val="666666"/>
                </a:solidFill>
                <a:latin typeface="Charter"/>
              </a:rPr>
              <a:t>3</a:t>
            </a:r>
          </a:p>
        </p:txBody>
      </p:sp>
      <p:graphicFrame>
        <p:nvGraphicFramePr>
          <p:cNvPr id="4" name="Table 3"/>
          <p:cNvGraphicFramePr>
            <a:graphicFrameLocks noGrp="1"/>
          </p:cNvGraphicFramePr>
          <p:nvPr/>
        </p:nvGraphicFramePr>
        <p:xfrm>
          <a:off x="548640" y="1463039"/>
          <a:ext cx="11094415" cy="4572000"/>
        </p:xfrm>
        <a:graphic>
          <a:graphicData uri="http://schemas.openxmlformats.org/drawingml/2006/table">
            <a:tbl>
              <a:tblPr firstRow="0" bandRow="0">
                <a:tableStyleId>{2D5ABB26-0587-4C30-8999-92F81FD0307C}</a:tableStyleId>
              </a:tblPr>
              <a:tblGrid>
                <a:gridCol w="1600200"/>
                <a:gridCol w="4709160"/>
                <a:gridCol w="4785055"/>
              </a:tblGrid>
              <a:tr h="457200">
                <a:tc>
                  <a:txBody>
                    <a:bodyPr wrap="square"/>
                    <a:lstStyle/>
                    <a:p>
                      <a:pPr>
                        <a:lnSpc>
                          <a:spcPct val="100000"/>
                        </a:lnSpc>
                      </a:pPr>
                      <a:r>
                        <a:rPr sz="1300" b="1" i="0">
                          <a:solidFill>
                            <a:srgbClr val="2F7F7A"/>
                          </a:solidFill>
                          <a:latin typeface="Charter"/>
                        </a:rPr>
                        <a:t>Date</a:t>
                      </a:r>
                    </a:p>
                  </a:txBody>
                  <a:tcPr marL="73152" marR="73152" marT="45720" marB="45720" anchor="t">
                    <a:lnB w="12700" cap="flat" cmpd="sng" algn="ctr">
                      <a:solidFill>
                        <a:srgbClr val="2F7F7A"/>
                      </a:solidFill>
                      <a:prstDash val="solid"/>
                    </a:lnB>
                    <a:noFill/>
                  </a:tcPr>
                </a:tc>
                <a:tc>
                  <a:txBody>
                    <a:bodyPr wrap="square"/>
                    <a:lstStyle/>
                    <a:p>
                      <a:pPr>
                        <a:lnSpc>
                          <a:spcPct val="100000"/>
                        </a:lnSpc>
                      </a:pPr>
                      <a:r>
                        <a:rPr sz="1300" b="1" i="0">
                          <a:solidFill>
                            <a:srgbClr val="2F7F7A"/>
                          </a:solidFill>
                          <a:latin typeface="Charter"/>
                        </a:rPr>
                        <a:t>Question</a:t>
                      </a:r>
                    </a:p>
                  </a:txBody>
                  <a:tcPr marL="73152" marR="73152" marT="45720" marB="45720" anchor="t">
                    <a:lnB w="12700" cap="flat" cmpd="sng" algn="ctr">
                      <a:solidFill>
                        <a:srgbClr val="2F7F7A"/>
                      </a:solidFill>
                      <a:prstDash val="solid"/>
                    </a:lnB>
                    <a:noFill/>
                  </a:tcPr>
                </a:tc>
                <a:tc>
                  <a:txBody>
                    <a:bodyPr wrap="square"/>
                    <a:lstStyle/>
                    <a:p>
                      <a:pPr>
                        <a:lnSpc>
                          <a:spcPct val="100000"/>
                        </a:lnSpc>
                      </a:pPr>
                      <a:r>
                        <a:rPr sz="1300" b="1" i="0">
                          <a:solidFill>
                            <a:srgbClr val="2F7F7A"/>
                          </a:solidFill>
                          <a:latin typeface="Charter"/>
                        </a:rPr>
                        <a:t>Short answer</a:t>
                      </a:r>
                    </a:p>
                  </a:txBody>
                  <a:tcPr marL="73152" marR="73152" marT="45720" marB="45720" anchor="t">
                    <a:lnB w="12700" cap="flat" cmpd="sng" algn="ctr">
                      <a:solidFill>
                        <a:srgbClr val="2F7F7A"/>
                      </a:solidFill>
                      <a:prstDash val="solid"/>
                    </a:lnB>
                    <a:noFill/>
                  </a:tcPr>
                </a:tc>
              </a:tr>
              <a:tr h="457200">
                <a:tc>
                  <a:txBody>
                    <a:bodyPr wrap="square"/>
                    <a:lstStyle/>
                    <a:p>
                      <a:pPr>
                        <a:lnSpc>
                          <a:spcPct val="100000"/>
                        </a:lnSpc>
                      </a:pPr>
                      <a:r>
                        <a:rPr sz="1300" b="0" i="0">
                          <a:solidFill>
                            <a:srgbClr val="222222"/>
                          </a:solidFill>
                          <a:latin typeface="Charter"/>
                        </a:rPr>
                        <a:t>30/09 to 02/10</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300" b="0" i="0">
                          <a:solidFill>
                            <a:srgbClr val="222222"/>
                          </a:solidFill>
                          <a:latin typeface="Charter"/>
                        </a:rPr>
                        <a:t>1. Were my September base-model results valid?</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300" b="0" i="0">
                          <a:solidFill>
                            <a:srgbClr val="222222"/>
                          </a:solidFill>
                          <a:latin typeface="Charter"/>
                        </a:rPr>
                        <a:t>No. The base models got a chat format they had never seen. I withdrew those results.</a:t>
                      </a:r>
                    </a:p>
                  </a:txBody>
                  <a:tcPr marL="73152" marR="73152" marT="45720" marB="45720" anchor="t">
                    <a:lnB w="12700" cap="flat" cmpd="sng" algn="ctr">
                      <a:solidFill>
                        <a:srgbClr val="BBBBBB"/>
                      </a:solidFill>
                      <a:prstDash val="solid"/>
                    </a:lnB>
                    <a:noFill/>
                  </a:tcPr>
                </a:tc>
              </a:tr>
              <a:tr h="457200">
                <a:tc>
                  <a:txBody>
                    <a:bodyPr wrap="square"/>
                    <a:lstStyle/>
                    <a:p>
                      <a:pPr>
                        <a:lnSpc>
                          <a:spcPct val="100000"/>
                        </a:lnSpc>
                      </a:pPr>
                      <a:r>
                        <a:rPr sz="1300" b="0" i="0">
                          <a:solidFill>
                            <a:srgbClr val="222222"/>
                          </a:solidFill>
                          <a:latin typeface="Charter"/>
                        </a:rPr>
                        <a:t>05/10</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300" b="0" i="0">
                          <a:solidFill>
                            <a:srgbClr val="222222"/>
                          </a:solidFill>
                          <a:latin typeface="Charter"/>
                        </a:rPr>
                        <a:t>2. Can a small (1B) base model play roles from a plain interview prompt?</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300" b="0" i="0">
                          <a:solidFill>
                            <a:srgbClr val="222222"/>
                          </a:solidFill>
                          <a:latin typeface="Charter"/>
                        </a:rPr>
                        <a:t>Partly. Well above chance, but it fell short on one of three example sets.</a:t>
                      </a:r>
                    </a:p>
                  </a:txBody>
                  <a:tcPr marL="73152" marR="73152" marT="45720" marB="45720" anchor="t">
                    <a:lnB w="12700" cap="flat" cmpd="sng" algn="ctr">
                      <a:solidFill>
                        <a:srgbClr val="BBBBBB"/>
                      </a:solidFill>
                      <a:prstDash val="solid"/>
                    </a:lnB>
                    <a:noFill/>
                  </a:tcPr>
                </a:tc>
              </a:tr>
              <a:tr h="457200">
                <a:tc>
                  <a:txBody>
                    <a:bodyPr wrap="square"/>
                    <a:lstStyle/>
                    <a:p>
                      <a:pPr>
                        <a:lnSpc>
                          <a:spcPct val="100000"/>
                        </a:lnSpc>
                      </a:pPr>
                      <a:r>
                        <a:rPr sz="1300" b="0" i="0">
                          <a:solidFill>
                            <a:srgbClr val="222222"/>
                          </a:solidFill>
                          <a:latin typeface="Charter"/>
                        </a:rPr>
                        <a:t>08/10 to 16/10</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300" b="0" i="0">
                          <a:solidFill>
                            <a:srgbClr val="222222"/>
                          </a:solidFill>
                          <a:latin typeface="Charter"/>
                        </a:rPr>
                        <a:t>3. Can the 7B base model play a role from a description alone?</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300" b="0" i="0">
                          <a:solidFill>
                            <a:srgbClr val="222222"/>
                          </a:solidFill>
                          <a:latin typeface="Charter"/>
                        </a:rPr>
                        <a:t>Above chance, but below my bar.</a:t>
                      </a:r>
                    </a:p>
                  </a:txBody>
                  <a:tcPr marL="73152" marR="73152" marT="45720" marB="45720" anchor="t">
                    <a:lnB w="12700" cap="flat" cmpd="sng" algn="ctr">
                      <a:solidFill>
                        <a:srgbClr val="BBBBBB"/>
                      </a:solidFill>
                      <a:prstDash val="solid"/>
                    </a:lnB>
                    <a:noFill/>
                  </a:tcPr>
                </a:tc>
              </a:tr>
              <a:tr h="457200">
                <a:tc>
                  <a:txBody>
                    <a:bodyPr wrap="square"/>
                    <a:lstStyle/>
                    <a:p>
                      <a:pPr>
                        <a:lnSpc>
                          <a:spcPct val="100000"/>
                        </a:lnSpc>
                      </a:pPr>
                      <a:r>
                        <a:rPr sz="1300" b="0" i="0">
                          <a:solidFill>
                            <a:srgbClr val="222222"/>
                          </a:solidFill>
                          <a:latin typeface="Charter"/>
                        </a:rPr>
                        <a:t>08/10 to 16/10</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300" b="0" i="0">
                          <a:solidFill>
                            <a:srgbClr val="222222"/>
                          </a:solidFill>
                          <a:latin typeface="Charter"/>
                        </a:rPr>
                        <a:t>4. Does it play the role when the prompt also shows two example answers from that role?</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300" b="0" i="0">
                          <a:solidFill>
                            <a:srgbClr val="222222"/>
                          </a:solidFill>
                          <a:latin typeface="Charter"/>
                        </a:rPr>
                        <a:t>Yes by my rule on the first sample of replies, with a narrow miss on a second sample.</a:t>
                      </a:r>
                    </a:p>
                  </a:txBody>
                  <a:tcPr marL="73152" marR="73152" marT="45720" marB="45720" anchor="t">
                    <a:lnB w="12700" cap="flat" cmpd="sng" algn="ctr">
                      <a:solidFill>
                        <a:srgbClr val="BBBBBB"/>
                      </a:solidFill>
                      <a:prstDash val="solid"/>
                    </a:lnB>
                    <a:noFill/>
                  </a:tcPr>
                </a:tc>
              </a:tr>
              <a:tr h="457200">
                <a:tc>
                  <a:txBody>
                    <a:bodyPr wrap="square"/>
                    <a:lstStyle/>
                    <a:p>
                      <a:pPr>
                        <a:lnSpc>
                          <a:spcPct val="100000"/>
                        </a:lnSpc>
                      </a:pPr>
                      <a:r>
                        <a:rPr sz="1300" b="0" i="0">
                          <a:solidFill>
                            <a:srgbClr val="222222"/>
                          </a:solidFill>
                          <a:latin typeface="Charter"/>
                        </a:rPr>
                        <a:t>16/10</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300" b="0" i="0">
                          <a:solidFill>
                            <a:srgbClr val="222222"/>
                          </a:solidFill>
                          <a:latin typeface="Charter"/>
                        </a:rPr>
                        <a:t>5. Is it the examples or the description that makes this work?</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300" b="0" i="0">
                          <a:solidFill>
                            <a:srgbClr val="222222"/>
                          </a:solidFill>
                          <a:latin typeface="Charter"/>
                        </a:rPr>
                        <a:t>Mostly the examples. With another role's examples, the judges name that other role.</a:t>
                      </a:r>
                    </a:p>
                  </a:txBody>
                  <a:tcPr marL="73152" marR="73152" marT="45720" marB="45720" anchor="t">
                    <a:lnB w="12700" cap="flat" cmpd="sng" algn="ctr">
                      <a:solidFill>
                        <a:srgbClr val="BBBBBB"/>
                      </a:solidFill>
                      <a:prstDash val="solid"/>
                    </a:lnB>
                    <a:noFill/>
                  </a:tcPr>
                </a:tc>
              </a:tr>
              <a:tr h="457200">
                <a:tc>
                  <a:txBody>
                    <a:bodyPr wrap="square"/>
                    <a:lstStyle/>
                    <a:p>
                      <a:pPr>
                        <a:lnSpc>
                          <a:spcPct val="100000"/>
                        </a:lnSpc>
                      </a:pPr>
                      <a:r>
                        <a:rPr sz="1300" b="0" i="0">
                          <a:solidFill>
                            <a:srgbClr val="222222"/>
                          </a:solidFill>
                          <a:latin typeface="Charter"/>
                        </a:rPr>
                        <a:t>16/10</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300" b="0" i="0">
                          <a:solidFill>
                            <a:srgbClr val="222222"/>
                          </a:solidFill>
                          <a:latin typeface="Charter"/>
                        </a:rPr>
                        <a:t>6. Which roles work?</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300" b="0" i="0">
                          <a:solidFill>
                            <a:srgbClr val="222222"/>
                          </a:solidFill>
                          <a:latin typeface="Charter"/>
                        </a:rPr>
                        <a:t>Roles with a strong voice, like toddler or pirate. Detective and refugee almost never.</a:t>
                      </a:r>
                    </a:p>
                  </a:txBody>
                  <a:tcPr marL="73152" marR="73152" marT="45720" marB="45720" anchor="t">
                    <a:lnB w="12700" cap="flat" cmpd="sng" algn="ctr">
                      <a:solidFill>
                        <a:srgbClr val="BBBBBB"/>
                      </a:solidFill>
                      <a:prstDash val="solid"/>
                    </a:lnB>
                    <a:noFill/>
                  </a:tcPr>
                </a:tc>
              </a:tr>
              <a:tr h="457200">
                <a:tc>
                  <a:txBody>
                    <a:bodyPr wrap="square"/>
                    <a:lstStyle/>
                    <a:p>
                      <a:pPr>
                        <a:lnSpc>
                          <a:spcPct val="100000"/>
                        </a:lnSpc>
                      </a:pPr>
                      <a:r>
                        <a:rPr sz="1300" b="0" i="0">
                          <a:solidFill>
                            <a:srgbClr val="222222"/>
                          </a:solidFill>
                          <a:latin typeface="Charter"/>
                        </a:rPr>
                        <a:t>16/10</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300" b="0" i="0">
                          <a:solidFill>
                            <a:srgbClr val="222222"/>
                          </a:solidFill>
                          <a:latin typeface="Charter"/>
                        </a:rPr>
                        <a:t>7. How many replies are broken, and can a judge count them?</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300" b="0" i="0">
                          <a:solidFill>
                            <a:srgbClr val="222222"/>
                          </a:solidFill>
                          <a:latin typeface="Charter"/>
                        </a:rPr>
                        <a:t>A judge marks 5% to 11%, but no judge agreed with my own labels well enough to trust.</a:t>
                      </a:r>
                    </a:p>
                  </a:txBody>
                  <a:tcPr marL="73152" marR="73152" marT="45720" marB="45720" anchor="t">
                    <a:lnB w="12700" cap="flat" cmpd="sng" algn="ctr">
                      <a:solidFill>
                        <a:srgbClr val="BBBBBB"/>
                      </a:solidFill>
                      <a:prstDash val="solid"/>
                    </a:lnB>
                    <a:noFill/>
                  </a:tcPr>
                </a:tc>
              </a:tr>
              <a:tr h="457200">
                <a:tc>
                  <a:txBody>
                    <a:bodyPr wrap="square"/>
                    <a:lstStyle/>
                    <a:p>
                      <a:pPr>
                        <a:lnSpc>
                          <a:spcPct val="100000"/>
                        </a:lnSpc>
                      </a:pPr>
                      <a:r>
                        <a:rPr sz="1300" b="0" i="0">
                          <a:solidFill>
                            <a:srgbClr val="222222"/>
                          </a:solidFill>
                          <a:latin typeface="Charter"/>
                        </a:rPr>
                        <a:t>16/10</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300" b="0" i="0">
                          <a:solidFill>
                            <a:srgbClr val="222222"/>
                          </a:solidFill>
                          <a:latin typeface="Charter"/>
                        </a:rPr>
                        <a:t>8. Can an automatic judge score role play the way I do?</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300" b="0" i="0">
                          <a:solidFill>
                            <a:srgbClr val="222222"/>
                          </a:solidFill>
                          <a:latin typeface="Charter"/>
                        </a:rPr>
                        <a:t>Not yet.</a:t>
                      </a:r>
                    </a:p>
                  </a:txBody>
                  <a:tcPr marL="73152" marR="73152" marT="45720" marB="45720" anchor="t">
                    <a:lnB w="12700" cap="flat" cmpd="sng" algn="ctr">
                      <a:solidFill>
                        <a:srgbClr val="BBBBBB"/>
                      </a:solidFill>
                      <a:prstDash val="solid"/>
                    </a:lnB>
                    <a:noFill/>
                  </a:tcPr>
                </a:tc>
              </a:tr>
              <a:tr h="457200">
                <a:tc>
                  <a:txBody>
                    <a:bodyPr wrap="square"/>
                    <a:lstStyle/>
                    <a:p>
                      <a:pPr>
                        <a:lnSpc>
                          <a:spcPct val="100000"/>
                        </a:lnSpc>
                      </a:pPr>
                      <a:r>
                        <a:rPr sz="1300" b="0" i="0">
                          <a:solidFill>
                            <a:srgbClr val="222222"/>
                          </a:solidFill>
                          <a:latin typeface="Charter"/>
                        </a:rPr>
                        <a:t>16/10</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300" b="0" i="0">
                          <a:solidFill>
                            <a:srgbClr val="222222"/>
                          </a:solidFill>
                          <a:latin typeface="Charter"/>
                        </a:rPr>
                        <a:t>9. Do the model's internal activations carry the role?</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300" b="0" i="0">
                          <a:solidFill>
                            <a:srgbClr val="222222"/>
                          </a:solidFill>
                          <a:latin typeface="Charter"/>
                        </a:rPr>
                        <a:t>With the prompt in view, yes. With the prompt removed, much less. First results only.</a:t>
                      </a:r>
                    </a:p>
                  </a:txBody>
                  <a:tcPr marL="73152" marR="73152" marT="45720" marB="45720" anchor="t">
                    <a:lnB w="12700" cap="flat" cmpd="sng" algn="ctr">
                      <a:solidFill>
                        <a:srgbClr val="BBBBBB"/>
                      </a:solidFill>
                      <a:prstDash val="solid"/>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11094415" cy="1234440"/>
          </a:xfrm>
          <a:prstGeom prst="rect">
            <a:avLst/>
          </a:prstGeom>
          <a:noFill/>
        </p:spPr>
        <p:txBody>
          <a:bodyPr wrap="square" anchor="b" lIns="45720" rIns="45720" tIns="27432" bIns="27432">
            <a:spAutoFit/>
          </a:bodyPr>
          <a:lstStyle/>
          <a:p>
            <a:pPr>
              <a:lnSpc>
                <a:spcPct val="100000"/>
              </a:lnSpc>
              <a:spcAft>
                <a:spcPts val="400"/>
              </a:spcAft>
            </a:pPr>
            <a:r>
              <a:rPr sz="1500" b="0" i="0">
                <a:solidFill>
                  <a:srgbClr val="666666"/>
                </a:solidFill>
                <a:latin typeface="Charter"/>
              </a:rPr>
              <a:t>How I tested the 7B model (questions 3 to 9)</a:t>
            </a:r>
          </a:p>
          <a:p>
            <a:pPr>
              <a:lnSpc>
                <a:spcPct val="100000"/>
              </a:lnSpc>
              <a:spcAft>
                <a:spcPts val="0"/>
              </a:spcAft>
            </a:pPr>
            <a:r>
              <a:rPr sz="2600" b="1" i="0">
                <a:solidFill>
                  <a:srgbClr val="222222"/>
                </a:solidFill>
                <a:latin typeface="Charter"/>
              </a:rPr>
              <a:t>I gave the 7B base model a plain interview transcript in four versions</a:t>
            </a:r>
          </a:p>
        </p:txBody>
      </p:sp>
      <p:sp>
        <p:nvSpPr>
          <p:cNvPr id="3" name="TextBox 2"/>
          <p:cNvSpPr txBox="1"/>
          <p:nvPr/>
        </p:nvSpPr>
        <p:spPr>
          <a:xfrm>
            <a:off x="11185855" y="6446520"/>
            <a:ext cx="548640" cy="274320"/>
          </a:xfrm>
          <a:prstGeom prst="rect">
            <a:avLst/>
          </a:prstGeom>
          <a:noFill/>
        </p:spPr>
        <p:txBody>
          <a:bodyPr wrap="square" anchor="t" lIns="45720" rIns="45720" tIns="27432" bIns="27432">
            <a:spAutoFit/>
          </a:bodyPr>
          <a:lstStyle/>
          <a:p>
            <a:pPr algn="r"/>
            <a:r>
              <a:rPr sz="1000" b="0" i="0">
                <a:solidFill>
                  <a:srgbClr val="666666"/>
                </a:solidFill>
                <a:latin typeface="Charter"/>
              </a:rPr>
              <a:t>4</a:t>
            </a:r>
          </a:p>
        </p:txBody>
      </p:sp>
      <p:sp>
        <p:nvSpPr>
          <p:cNvPr id="4" name="TextBox 3"/>
          <p:cNvSpPr txBox="1"/>
          <p:nvPr/>
        </p:nvSpPr>
        <p:spPr>
          <a:xfrm>
            <a:off x="548640" y="1508760"/>
            <a:ext cx="5760720" cy="4937760"/>
          </a:xfrm>
          <a:prstGeom prst="rect">
            <a:avLst/>
          </a:prstGeom>
          <a:noFill/>
        </p:spPr>
        <p:txBody>
          <a:bodyPr wrap="square" anchor="t" lIns="45720" rIns="45720" tIns="27432" bIns="27432">
            <a:spAutoFit/>
          </a:bodyPr>
          <a:lstStyle/>
          <a:p>
            <a:pPr marL="256032" indent="-256032">
              <a:lnSpc>
                <a:spcPct val="110000"/>
              </a:lnSpc>
              <a:spcAft>
                <a:spcPts val="800"/>
              </a:spcAft>
              <a:buClr>
                <a:srgbClr val="2F7F7A"/>
              </a:buClr>
              <a:buFont typeface="Arial"/>
              <a:buChar char="•"/>
            </a:pPr>
            <a:r>
              <a:rPr sz="1500" b="0" i="0">
                <a:solidFill>
                  <a:srgbClr val="222222"/>
                </a:solidFill>
                <a:latin typeface="Charter"/>
              </a:rPr>
              <a:t>OLMo-2 7B base, plain text only. 20 of the 276 roles, 5 wordings of each description, 18 interview questions: 1,800 replies per prompt.</a:t>
            </a:r>
          </a:p>
          <a:p>
            <a:pPr marL="256032" indent="-256032">
              <a:lnSpc>
                <a:spcPct val="110000"/>
              </a:lnSpc>
              <a:spcAft>
                <a:spcPts val="300"/>
              </a:spcAft>
              <a:buClr>
                <a:srgbClr val="2F7F7A"/>
              </a:buClr>
              <a:buFont typeface="Arial"/>
              <a:buChar char="•"/>
            </a:pPr>
            <a:r>
              <a:rPr sz="1500" b="0" i="0">
                <a:solidFill>
                  <a:srgbClr val="222222"/>
                </a:solidFill>
                <a:latin typeface="Charter"/>
              </a:rPr>
              <a:t>Four prompts, each ending with the interview question:</a:t>
            </a:r>
          </a:p>
          <a:p>
            <a:pPr marL="512064" indent="-256032">
              <a:lnSpc>
                <a:spcPct val="110000"/>
              </a:lnSpc>
              <a:spcAft>
                <a:spcPts val="100"/>
              </a:spcAft>
              <a:buClr>
                <a:srgbClr val="2F7F7A"/>
              </a:buClr>
              <a:buFont typeface="Arial"/>
              <a:buChar char="–"/>
            </a:pPr>
            <a:r>
              <a:rPr sz="1500" b="0" i="0">
                <a:solidFill>
                  <a:srgbClr val="222222"/>
                </a:solidFill>
                <a:latin typeface="Charter"/>
              </a:rPr>
              <a:t>the role description only</a:t>
            </a:r>
          </a:p>
          <a:p>
            <a:pPr marL="512064" indent="-256032">
              <a:lnSpc>
                <a:spcPct val="110000"/>
              </a:lnSpc>
              <a:spcAft>
                <a:spcPts val="100"/>
              </a:spcAft>
              <a:buClr>
                <a:srgbClr val="2F7F7A"/>
              </a:buClr>
              <a:buFont typeface="Arial"/>
              <a:buChar char="–"/>
            </a:pPr>
            <a:r>
              <a:rPr sz="1500" b="0" i="0">
                <a:solidFill>
                  <a:srgbClr val="222222"/>
                </a:solidFill>
                <a:latin typeface="Charter"/>
              </a:rPr>
              <a:t>the description plus two example answers from the same role</a:t>
            </a:r>
          </a:p>
          <a:p>
            <a:pPr marL="512064" indent="-256032">
              <a:lnSpc>
                <a:spcPct val="110000"/>
              </a:lnSpc>
              <a:spcAft>
                <a:spcPts val="100"/>
              </a:spcAft>
              <a:buClr>
                <a:srgbClr val="2F7F7A"/>
              </a:buClr>
              <a:buFont typeface="Arial"/>
              <a:buChar char="–"/>
            </a:pPr>
            <a:r>
              <a:rPr sz="1500" b="0" i="0">
                <a:solidFill>
                  <a:srgbClr val="222222"/>
                </a:solidFill>
                <a:latin typeface="Charter"/>
              </a:rPr>
              <a:t>the description plus two example answers from a different role</a:t>
            </a:r>
          </a:p>
          <a:p>
            <a:pPr marL="512064" indent="-256032">
              <a:lnSpc>
                <a:spcPct val="110000"/>
              </a:lnSpc>
              <a:spcAft>
                <a:spcPts val="800"/>
              </a:spcAft>
              <a:buClr>
                <a:srgbClr val="2F7F7A"/>
              </a:buClr>
              <a:buFont typeface="Arial"/>
              <a:buChar char="–"/>
            </a:pPr>
            <a:r>
              <a:rPr sz="1500" b="0" i="0">
                <a:solidFill>
                  <a:srgbClr val="222222"/>
                </a:solidFill>
                <a:latin typeface="Charter"/>
              </a:rPr>
              <a:t>the description plus neutral notes as long as the two examples</a:t>
            </a:r>
          </a:p>
          <a:p>
            <a:pPr marL="256032" indent="-256032">
              <a:lnSpc>
                <a:spcPct val="110000"/>
              </a:lnSpc>
              <a:spcAft>
                <a:spcPts val="800"/>
              </a:spcAft>
              <a:buClr>
                <a:srgbClr val="2F7F7A"/>
              </a:buClr>
              <a:buFont typeface="Arial"/>
              <a:buChar char="•"/>
            </a:pPr>
            <a:r>
              <a:rPr sz="1500" b="0" i="0">
                <a:solidFill>
                  <a:srgbClr val="222222"/>
                </a:solidFill>
                <a:latin typeface="Charter"/>
              </a:rPr>
              <a:t>Two judges, GPT-5.6-Sol and Claude Sonnet 5.5, read only the reply and the 276 role names and give their top 5 guesses. They never see the prompt.</a:t>
            </a:r>
          </a:p>
          <a:p>
            <a:pPr marL="256032" indent="-256032">
              <a:lnSpc>
                <a:spcPct val="110000"/>
              </a:lnSpc>
              <a:spcAft>
                <a:spcPts val="800"/>
              </a:spcAft>
              <a:buClr>
                <a:srgbClr val="2F7F7A"/>
              </a:buClr>
              <a:buFont typeface="Arial"/>
              <a:buChar char="•"/>
            </a:pPr>
            <a:r>
              <a:rPr sz="1500" b="0" i="0">
                <a:solidFill>
                  <a:srgbClr val="222222"/>
                </a:solidFill>
                <a:latin typeface="Charter"/>
              </a:rPr>
              <a:t>My bar, written before the run: the lower end of the 95% interval for “right role in the top 5” is at least 20%; at least 10 of 20 roles beat shuffled role labels; this holds after dropping replies that copy an example or say the role's name; at most 10% of replies are broken. Both judges must pass.</a:t>
            </a:r>
          </a:p>
        </p:txBody>
      </p:sp>
      <p:sp>
        <p:nvSpPr>
          <p:cNvPr id="5" name="TextBox 4"/>
          <p:cNvSpPr txBox="1"/>
          <p:nvPr/>
        </p:nvSpPr>
        <p:spPr>
          <a:xfrm>
            <a:off x="6629399" y="1508760"/>
            <a:ext cx="5105095" cy="320040"/>
          </a:xfrm>
          <a:prstGeom prst="rect">
            <a:avLst/>
          </a:prstGeom>
          <a:noFill/>
        </p:spPr>
        <p:txBody>
          <a:bodyPr wrap="square" anchor="t" lIns="45720" rIns="45720" tIns="27432" bIns="27432">
            <a:spAutoFit/>
          </a:bodyPr>
          <a:lstStyle/>
          <a:p>
            <a:pPr>
              <a:lnSpc>
                <a:spcPct val="110000"/>
              </a:lnSpc>
              <a:spcAft>
                <a:spcPts val="1000"/>
              </a:spcAft>
            </a:pPr>
            <a:r>
              <a:rPr sz="1300" b="0" i="0">
                <a:solidFill>
                  <a:srgbClr val="2F7F7A"/>
                </a:solidFill>
                <a:latin typeface="Charter"/>
              </a:rPr>
              <a:t>The exact prompt (pirate, two same-role examples, cut short)</a:t>
            </a:r>
          </a:p>
        </p:txBody>
      </p:sp>
      <p:sp>
        <p:nvSpPr>
          <p:cNvPr id="6" name="TextBox 5"/>
          <p:cNvSpPr txBox="1"/>
          <p:nvPr/>
        </p:nvSpPr>
        <p:spPr>
          <a:xfrm>
            <a:off x="6629399" y="1874519"/>
            <a:ext cx="5105095" cy="3794760"/>
          </a:xfrm>
          <a:prstGeom prst="rect">
            <a:avLst/>
          </a:prstGeom>
          <a:solidFill>
            <a:srgbClr val="F4F4F4"/>
          </a:solidFill>
        </p:spPr>
        <p:txBody>
          <a:bodyPr wrap="square" anchor="t" lIns="128016" rIns="128016" tIns="109728" bIns="109728">
            <a:spAutoFit/>
          </a:bodyPr>
          <a:lstStyle/>
          <a:p>
            <a:pPr>
              <a:lnSpc>
                <a:spcPct val="100000"/>
              </a:lnSpc>
            </a:pPr>
            <a:r>
              <a:rPr sz="1200" b="0" i="0">
                <a:solidFill>
                  <a:srgbClr val="222222"/>
                </a:solidFill>
                <a:latin typeface="Courier New"/>
              </a:rPr>
              <a:t>&lt;|endoftext|&gt;The following is an interview. The guest answers in their own voice.</a:t>
            </a:r>
          </a:p>
          <a:p>
            <a:pPr>
              <a:lnSpc>
                <a:spcPct val="100000"/>
              </a:lnSpc>
              <a:spcBef>
                <a:spcPts val="900"/>
              </a:spcBef>
            </a:pPr>
            <a:r>
              <a:rPr sz="1200" b="0" i="0">
                <a:solidFill>
                  <a:srgbClr val="222222"/>
                </a:solidFill>
                <a:latin typeface="Courier New"/>
              </a:rPr>
              <a:t>About the guest: a pirate captain who has sailed the seven seas in search of treasure and adventure</a:t>
            </a:r>
          </a:p>
          <a:p>
            <a:pPr>
              <a:lnSpc>
                <a:spcPct val="100000"/>
              </a:lnSpc>
              <a:spcBef>
                <a:spcPts val="900"/>
              </a:spcBef>
            </a:pPr>
            <a:r>
              <a:rPr sz="1200" b="0" i="0">
                <a:solidFill>
                  <a:srgbClr val="222222"/>
                </a:solidFill>
                <a:latin typeface="Courier New"/>
              </a:rPr>
              <a:t>Interviewer: How should we prepare for economic uncertainties?</a:t>
            </a:r>
          </a:p>
          <a:p>
            <a:pPr>
              <a:lnSpc>
                <a:spcPct val="100000"/>
              </a:lnSpc>
            </a:pPr>
            <a:r>
              <a:rPr sz="1200" b="0" i="0">
                <a:solidFill>
                  <a:srgbClr val="222222"/>
                </a:solidFill>
                <a:latin typeface="Courier New"/>
              </a:rPr>
              <a:t>Guest: Arrr, matey! When the winds of fortune blow hard and the waves of worry rise, ...</a:t>
            </a:r>
          </a:p>
          <a:p>
            <a:pPr>
              <a:lnSpc>
                <a:spcPct val="100000"/>
              </a:lnSpc>
              <a:spcBef>
                <a:spcPts val="900"/>
              </a:spcBef>
            </a:pPr>
            <a:r>
              <a:rPr sz="1200" b="0" i="0">
                <a:solidFill>
                  <a:srgbClr val="222222"/>
                </a:solidFill>
                <a:latin typeface="Courier New"/>
              </a:rPr>
              <a:t>Interviewer: How do you respond when inspiration strikes?</a:t>
            </a:r>
          </a:p>
          <a:p>
            <a:pPr>
              <a:lnSpc>
                <a:spcPct val="100000"/>
              </a:lnSpc>
            </a:pPr>
            <a:r>
              <a:rPr sz="1200" b="0" i="0">
                <a:solidFill>
                  <a:srgbClr val="222222"/>
                </a:solidFill>
                <a:latin typeface="Courier New"/>
              </a:rPr>
              <a:t>Guest: When inspiration strikes, I embrace it like a long-lost friend. ...</a:t>
            </a:r>
          </a:p>
          <a:p>
            <a:pPr>
              <a:lnSpc>
                <a:spcPct val="100000"/>
              </a:lnSpc>
              <a:spcBef>
                <a:spcPts val="900"/>
              </a:spcBef>
            </a:pPr>
            <a:r>
              <a:rPr sz="1200" b="0" i="0">
                <a:solidFill>
                  <a:srgbClr val="222222"/>
                </a:solidFill>
                <a:latin typeface="Courier New"/>
              </a:rPr>
              <a:t>Interviewer: Describe what it's like when you finally understand something complex.</a:t>
            </a:r>
          </a:p>
          <a:p>
            <a:pPr>
              <a:lnSpc>
                <a:spcPct val="100000"/>
              </a:lnSpc>
            </a:pPr>
            <a:r>
              <a:rPr sz="1200" b="0" i="0">
                <a:solidFill>
                  <a:srgbClr val="222222"/>
                </a:solidFill>
                <a:latin typeface="Courier New"/>
              </a:rPr>
              <a:t>Guest:</a:t>
            </a:r>
          </a:p>
        </p:txBody>
      </p:sp>
      <p:sp>
        <p:nvSpPr>
          <p:cNvPr id="7" name="TextBox 6"/>
          <p:cNvSpPr txBox="1"/>
          <p:nvPr/>
        </p:nvSpPr>
        <p:spPr>
          <a:xfrm>
            <a:off x="6629399" y="5760720"/>
            <a:ext cx="5105095" cy="457200"/>
          </a:xfrm>
          <a:prstGeom prst="rect">
            <a:avLst/>
          </a:prstGeom>
          <a:noFill/>
        </p:spPr>
        <p:txBody>
          <a:bodyPr wrap="square" anchor="t" lIns="45720" rIns="45720" tIns="27432" bIns="27432">
            <a:spAutoFit/>
          </a:bodyPr>
          <a:lstStyle/>
          <a:p>
            <a:pPr>
              <a:lnSpc>
                <a:spcPct val="110000"/>
              </a:lnSpc>
              <a:spcAft>
                <a:spcPts val="1000"/>
              </a:spcAft>
            </a:pPr>
            <a:r>
              <a:rPr sz="1300" b="0" i="1">
                <a:solidFill>
                  <a:srgbClr val="666666"/>
                </a:solidFill>
                <a:latin typeface="Charter"/>
              </a:rPr>
              <a:t>The description-only prompt is the same without the two example turns.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11094415" cy="1234440"/>
          </a:xfrm>
          <a:prstGeom prst="rect">
            <a:avLst/>
          </a:prstGeom>
          <a:noFill/>
        </p:spPr>
        <p:txBody>
          <a:bodyPr wrap="square" anchor="b" lIns="45720" rIns="45720" tIns="27432" bIns="27432">
            <a:spAutoFit/>
          </a:bodyPr>
          <a:lstStyle/>
          <a:p>
            <a:pPr>
              <a:lnSpc>
                <a:spcPct val="100000"/>
              </a:lnSpc>
              <a:spcAft>
                <a:spcPts val="400"/>
              </a:spcAft>
            </a:pPr>
            <a:r>
              <a:rPr sz="1500" b="0" i="0">
                <a:solidFill>
                  <a:srgbClr val="666666"/>
                </a:solidFill>
                <a:latin typeface="Charter"/>
              </a:rPr>
              <a:t>Questions 3 and 4: Can it play a role from the description alone? With two example answers?</a:t>
            </a:r>
          </a:p>
          <a:p>
            <a:pPr>
              <a:lnSpc>
                <a:spcPct val="100000"/>
              </a:lnSpc>
              <a:spcAft>
                <a:spcPts val="0"/>
              </a:spcAft>
            </a:pPr>
            <a:r>
              <a:rPr sz="2600" b="1" i="0">
                <a:solidFill>
                  <a:srgbClr val="222222"/>
                </a:solidFill>
                <a:latin typeface="Charter"/>
              </a:rPr>
              <a:t>Two same-role examples pass my bar; the description alone does not</a:t>
            </a:r>
          </a:p>
        </p:txBody>
      </p:sp>
      <p:sp>
        <p:nvSpPr>
          <p:cNvPr id="3" name="TextBox 2"/>
          <p:cNvSpPr txBox="1"/>
          <p:nvPr/>
        </p:nvSpPr>
        <p:spPr>
          <a:xfrm>
            <a:off x="11185855" y="6446520"/>
            <a:ext cx="548640" cy="274320"/>
          </a:xfrm>
          <a:prstGeom prst="rect">
            <a:avLst/>
          </a:prstGeom>
          <a:noFill/>
        </p:spPr>
        <p:txBody>
          <a:bodyPr wrap="square" anchor="t" lIns="45720" rIns="45720" tIns="27432" bIns="27432">
            <a:spAutoFit/>
          </a:bodyPr>
          <a:lstStyle/>
          <a:p>
            <a:pPr algn="r"/>
            <a:r>
              <a:rPr sz="1000" b="0" i="0">
                <a:solidFill>
                  <a:srgbClr val="666666"/>
                </a:solidFill>
                <a:latin typeface="Charter"/>
              </a:rPr>
              <a:t>5</a:t>
            </a:r>
          </a:p>
        </p:txBody>
      </p:sp>
      <p:pic>
        <p:nvPicPr>
          <p:cNvPr id="4" name="Picture 3" descr="fig1_naming_by_prompt.png"/>
          <p:cNvPicPr>
            <a:picLocks noChangeAspect="1"/>
          </p:cNvPicPr>
          <p:nvPr/>
        </p:nvPicPr>
        <p:blipFill>
          <a:blip r:embed="rId2"/>
          <a:stretch>
            <a:fillRect/>
          </a:stretch>
        </p:blipFill>
        <p:spPr>
          <a:xfrm>
            <a:off x="411480" y="1463039"/>
            <a:ext cx="6281993" cy="5257800"/>
          </a:xfrm>
          <a:prstGeom prst="rect">
            <a:avLst/>
          </a:prstGeom>
        </p:spPr>
      </p:pic>
      <p:sp>
        <p:nvSpPr>
          <p:cNvPr id="5" name="TextBox 4"/>
          <p:cNvSpPr txBox="1"/>
          <p:nvPr/>
        </p:nvSpPr>
        <p:spPr>
          <a:xfrm>
            <a:off x="7104953" y="1783080"/>
            <a:ext cx="4583822" cy="4572000"/>
          </a:xfrm>
          <a:prstGeom prst="rect">
            <a:avLst/>
          </a:prstGeom>
          <a:noFill/>
        </p:spPr>
        <p:txBody>
          <a:bodyPr wrap="square" anchor="t" lIns="45720" rIns="45720" tIns="27432" bIns="27432">
            <a:spAutoFit/>
          </a:bodyPr>
          <a:lstStyle/>
          <a:p>
            <a:pPr>
              <a:lnSpc>
                <a:spcPct val="110000"/>
              </a:lnSpc>
              <a:spcAft>
                <a:spcPts val="1600"/>
              </a:spcAft>
            </a:pPr>
            <a:r>
              <a:rPr sz="1500" b="0" i="0">
                <a:solidFill>
                  <a:srgbClr val="666666"/>
                </a:solidFill>
                <a:latin typeface="Charter"/>
              </a:rPr>
              <a:t>Bars show how often the right role is in a judge's top 5 guesses out of 276.</a:t>
            </a:r>
          </a:p>
          <a:p>
            <a:pPr marL="256032" indent="-256032">
              <a:lnSpc>
                <a:spcPct val="110000"/>
              </a:lnSpc>
              <a:spcAft>
                <a:spcPts val="1600"/>
              </a:spcAft>
              <a:buClr>
                <a:srgbClr val="2F7F7A"/>
              </a:buClr>
              <a:buFont typeface="Arial"/>
              <a:buChar char="•"/>
            </a:pPr>
            <a:r>
              <a:rPr sz="1800" b="0" i="0">
                <a:solidFill>
                  <a:srgbClr val="222222"/>
                </a:solidFill>
                <a:latin typeface="Charter"/>
              </a:rPr>
              <a:t>Description only: 14.9% and 17.2% (GPT and Claude judges). Well above shuffled labels, but under my 20% bar.</a:t>
            </a:r>
          </a:p>
          <a:p>
            <a:pPr marL="256032" indent="-256032">
              <a:lnSpc>
                <a:spcPct val="110000"/>
              </a:lnSpc>
              <a:spcAft>
                <a:spcPts val="1600"/>
              </a:spcAft>
              <a:buClr>
                <a:srgbClr val="2F7F7A"/>
              </a:buClr>
              <a:buFont typeface="Arial"/>
              <a:buChar char="•"/>
            </a:pPr>
            <a:r>
              <a:rPr sz="1800" b="0" i="0">
                <a:solidFill>
                  <a:srgbClr val="222222"/>
                </a:solidFill>
                <a:latin typeface="Charter"/>
              </a:rPr>
              <a:t>Two same-role examples: 37.6% and 42.3%, which passes every part of my rule. On a second sample of replies it narrowly misses: 19.8% for the GPT judge after dropping copied and self-naming replies.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11094415" cy="1234440"/>
          </a:xfrm>
          <a:prstGeom prst="rect">
            <a:avLst/>
          </a:prstGeom>
          <a:noFill/>
        </p:spPr>
        <p:txBody>
          <a:bodyPr wrap="square" anchor="b" lIns="45720" rIns="45720" tIns="27432" bIns="27432">
            <a:spAutoFit/>
          </a:bodyPr>
          <a:lstStyle/>
          <a:p>
            <a:pPr>
              <a:lnSpc>
                <a:spcPct val="100000"/>
              </a:lnSpc>
              <a:spcAft>
                <a:spcPts val="400"/>
              </a:spcAft>
            </a:pPr>
            <a:r>
              <a:rPr sz="1500" b="0" i="0">
                <a:solidFill>
                  <a:srgbClr val="666666"/>
                </a:solidFill>
                <a:latin typeface="Charter"/>
              </a:rPr>
              <a:t>Question 5: Is it the examples or the description that makes this work?</a:t>
            </a:r>
          </a:p>
          <a:p>
            <a:pPr>
              <a:lnSpc>
                <a:spcPct val="100000"/>
              </a:lnSpc>
              <a:spcAft>
                <a:spcPts val="0"/>
              </a:spcAft>
            </a:pPr>
            <a:r>
              <a:rPr sz="2600" b="1" i="0">
                <a:solidFill>
                  <a:srgbClr val="222222"/>
                </a:solidFill>
                <a:latin typeface="Charter"/>
              </a:rPr>
              <a:t>With another role's examples, the judges name that other role</a:t>
            </a:r>
          </a:p>
        </p:txBody>
      </p:sp>
      <p:sp>
        <p:nvSpPr>
          <p:cNvPr id="3" name="TextBox 2"/>
          <p:cNvSpPr txBox="1"/>
          <p:nvPr/>
        </p:nvSpPr>
        <p:spPr>
          <a:xfrm>
            <a:off x="11185855" y="6446520"/>
            <a:ext cx="548640" cy="274320"/>
          </a:xfrm>
          <a:prstGeom prst="rect">
            <a:avLst/>
          </a:prstGeom>
          <a:noFill/>
        </p:spPr>
        <p:txBody>
          <a:bodyPr wrap="square" anchor="t" lIns="45720" rIns="45720" tIns="27432" bIns="27432">
            <a:spAutoFit/>
          </a:bodyPr>
          <a:lstStyle/>
          <a:p>
            <a:pPr algn="r"/>
            <a:r>
              <a:rPr sz="1000" b="0" i="0">
                <a:solidFill>
                  <a:srgbClr val="666666"/>
                </a:solidFill>
                <a:latin typeface="Charter"/>
              </a:rPr>
              <a:t>6</a:t>
            </a:r>
          </a:p>
        </p:txBody>
      </p:sp>
      <p:pic>
        <p:nvPicPr>
          <p:cNvPr id="4" name="Picture 3" descr="fig2_example_role_wins.png"/>
          <p:cNvPicPr>
            <a:picLocks noChangeAspect="1"/>
          </p:cNvPicPr>
          <p:nvPr/>
        </p:nvPicPr>
        <p:blipFill>
          <a:blip r:embed="rId2"/>
          <a:stretch>
            <a:fillRect/>
          </a:stretch>
        </p:blipFill>
        <p:spPr>
          <a:xfrm>
            <a:off x="411480" y="1600200"/>
            <a:ext cx="7589520" cy="4588728"/>
          </a:xfrm>
          <a:prstGeom prst="rect">
            <a:avLst/>
          </a:prstGeom>
        </p:spPr>
      </p:pic>
      <p:sp>
        <p:nvSpPr>
          <p:cNvPr id="5" name="TextBox 4"/>
          <p:cNvSpPr txBox="1"/>
          <p:nvPr/>
        </p:nvSpPr>
        <p:spPr>
          <a:xfrm>
            <a:off x="8366760" y="1691639"/>
            <a:ext cx="3367735" cy="4754880"/>
          </a:xfrm>
          <a:prstGeom prst="rect">
            <a:avLst/>
          </a:prstGeom>
          <a:noFill/>
        </p:spPr>
        <p:txBody>
          <a:bodyPr wrap="square" anchor="t" lIns="45720" rIns="45720" tIns="27432" bIns="27432">
            <a:spAutoFit/>
          </a:bodyPr>
          <a:lstStyle/>
          <a:p>
            <a:pPr>
              <a:lnSpc>
                <a:spcPct val="110000"/>
              </a:lnSpc>
              <a:spcAft>
                <a:spcPts val="600"/>
              </a:spcAft>
            </a:pPr>
            <a:r>
              <a:rPr sz="1500" b="0" i="0">
                <a:solidFill>
                  <a:srgbClr val="666666"/>
                </a:solidFill>
                <a:latin typeface="Charter"/>
              </a:rPr>
              <a:t>A chef description with robot examples, asked about good chemistry between people. The reply says chemistry:</a:t>
            </a:r>
          </a:p>
          <a:p>
            <a:pPr>
              <a:lnSpc>
                <a:spcPct val="110000"/>
              </a:lnSpc>
              <a:spcAft>
                <a:spcPts val="600"/>
              </a:spcAft>
            </a:pPr>
            <a:r>
              <a:rPr sz="1900" b="0" i="1">
                <a:solidFill>
                  <a:srgbClr val="222222"/>
                </a:solidFill>
                <a:latin typeface="Charter"/>
              </a:rPr>
              <a:t>“can be represented as a binary logic system with three variables”</a:t>
            </a:r>
          </a:p>
          <a:p>
            <a:pPr>
              <a:lnSpc>
                <a:spcPct val="110000"/>
              </a:lnSpc>
              <a:spcAft>
                <a:spcPts val="2800"/>
              </a:spcAft>
            </a:pPr>
            <a:r>
              <a:rPr sz="1500" b="0" i="0">
                <a:solidFill>
                  <a:srgbClr val="666666"/>
                </a:solidFill>
                <a:latin typeface="Charter"/>
              </a:rPr>
              <a:t>Both judges put robot first.</a:t>
            </a:r>
          </a:p>
          <a:p>
            <a:pPr>
              <a:lnSpc>
                <a:spcPct val="110000"/>
              </a:lnSpc>
              <a:spcAft>
                <a:spcPts val="1000"/>
              </a:spcAft>
            </a:pPr>
            <a:r>
              <a:rPr sz="1700" b="0" i="0">
                <a:solidFill>
                  <a:srgbClr val="222222"/>
                </a:solidFill>
                <a:latin typeface="Charter"/>
              </a:rPr>
              <a:t>Length alone does not help. With neutral notes as long as the examples, the right role is in the top 5 for 8.6% and 12.7% of replies.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11094415" cy="1234440"/>
          </a:xfrm>
          <a:prstGeom prst="rect">
            <a:avLst/>
          </a:prstGeom>
          <a:noFill/>
        </p:spPr>
        <p:txBody>
          <a:bodyPr wrap="square" anchor="b" lIns="45720" rIns="45720" tIns="27432" bIns="27432">
            <a:spAutoFit/>
          </a:bodyPr>
          <a:lstStyle/>
          <a:p>
            <a:pPr>
              <a:lnSpc>
                <a:spcPct val="100000"/>
              </a:lnSpc>
              <a:spcAft>
                <a:spcPts val="400"/>
              </a:spcAft>
            </a:pPr>
            <a:r>
              <a:rPr sz="1500" b="0" i="0">
                <a:solidFill>
                  <a:srgbClr val="666666"/>
                </a:solidFill>
                <a:latin typeface="Charter"/>
              </a:rPr>
              <a:t>Question 6: Which roles work?</a:t>
            </a:r>
          </a:p>
          <a:p>
            <a:pPr>
              <a:lnSpc>
                <a:spcPct val="100000"/>
              </a:lnSpc>
              <a:spcAft>
                <a:spcPts val="0"/>
              </a:spcAft>
            </a:pPr>
            <a:r>
              <a:rPr sz="2600" b="1" i="0">
                <a:solidFill>
                  <a:srgbClr val="222222"/>
                </a:solidFill>
                <a:latin typeface="Charter"/>
              </a:rPr>
              <a:t>Roles with a strong voice work; detective and refugee almost never</a:t>
            </a:r>
          </a:p>
        </p:txBody>
      </p:sp>
      <p:sp>
        <p:nvSpPr>
          <p:cNvPr id="3" name="TextBox 2"/>
          <p:cNvSpPr txBox="1"/>
          <p:nvPr/>
        </p:nvSpPr>
        <p:spPr>
          <a:xfrm>
            <a:off x="11185855" y="6446520"/>
            <a:ext cx="548640" cy="274320"/>
          </a:xfrm>
          <a:prstGeom prst="rect">
            <a:avLst/>
          </a:prstGeom>
          <a:noFill/>
        </p:spPr>
        <p:txBody>
          <a:bodyPr wrap="square" anchor="t" lIns="45720" rIns="45720" tIns="27432" bIns="27432">
            <a:spAutoFit/>
          </a:bodyPr>
          <a:lstStyle/>
          <a:p>
            <a:pPr algn="r"/>
            <a:r>
              <a:rPr sz="1000" b="0" i="0">
                <a:solidFill>
                  <a:srgbClr val="666666"/>
                </a:solidFill>
                <a:latin typeface="Charter"/>
              </a:rPr>
              <a:t>7</a:t>
            </a:r>
          </a:p>
        </p:txBody>
      </p:sp>
      <p:pic>
        <p:nvPicPr>
          <p:cNvPr id="4" name="Picture 3" descr="fig3_roles_ex2.png"/>
          <p:cNvPicPr>
            <a:picLocks noChangeAspect="1"/>
          </p:cNvPicPr>
          <p:nvPr/>
        </p:nvPicPr>
        <p:blipFill>
          <a:blip r:embed="rId2"/>
          <a:stretch>
            <a:fillRect/>
          </a:stretch>
        </p:blipFill>
        <p:spPr>
          <a:xfrm>
            <a:off x="548640" y="1417319"/>
            <a:ext cx="4750656" cy="5257800"/>
          </a:xfrm>
          <a:prstGeom prst="rect">
            <a:avLst/>
          </a:prstGeom>
        </p:spPr>
      </p:pic>
      <p:sp>
        <p:nvSpPr>
          <p:cNvPr id="5" name="TextBox 4"/>
          <p:cNvSpPr txBox="1"/>
          <p:nvPr/>
        </p:nvSpPr>
        <p:spPr>
          <a:xfrm>
            <a:off x="5847936" y="1874519"/>
            <a:ext cx="5795119" cy="4389120"/>
          </a:xfrm>
          <a:prstGeom prst="rect">
            <a:avLst/>
          </a:prstGeom>
          <a:noFill/>
        </p:spPr>
        <p:txBody>
          <a:bodyPr wrap="square" anchor="t" lIns="45720" rIns="45720" tIns="27432" bIns="27432">
            <a:spAutoFit/>
          </a:bodyPr>
          <a:lstStyle/>
          <a:p>
            <a:pPr marL="256032" indent="-256032">
              <a:lnSpc>
                <a:spcPct val="110000"/>
              </a:lnSpc>
              <a:spcAft>
                <a:spcPts val="2000"/>
              </a:spcAft>
              <a:buClr>
                <a:srgbClr val="2F7F7A"/>
              </a:buClr>
              <a:buFont typeface="Arial"/>
              <a:buChar char="•"/>
            </a:pPr>
            <a:r>
              <a:rPr sz="1800" b="0" i="0">
                <a:solidFill>
                  <a:srgbClr val="222222"/>
                </a:solidFill>
                <a:latin typeface="Charter"/>
              </a:rPr>
              <a:t>Detective and refugee replies read like ordinary answers. This test can't tell whether the model plays those roles weakly or the judges just find vivid roles easier to spot.</a:t>
            </a:r>
          </a:p>
          <a:p>
            <a:pPr marL="256032" indent="-256032">
              <a:lnSpc>
                <a:spcPct val="110000"/>
              </a:lnSpc>
              <a:spcAft>
                <a:spcPts val="2000"/>
              </a:spcAft>
              <a:buClr>
                <a:srgbClr val="2F7F7A"/>
              </a:buClr>
              <a:buFont typeface="Arial"/>
              <a:buChar char="•"/>
            </a:pPr>
            <a:r>
              <a:rPr sz="1800" b="0" i="0">
                <a:solidFill>
                  <a:srgbClr val="222222"/>
                </a:solidFill>
                <a:latin typeface="Charter"/>
              </a:rPr>
              <a:t>The assistant is a special case. For 80 of its 90 replies, Claude's first guess is “default”, which is also one of the 276 names. So a plain assistant-style reply mostly counts as a miss.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11094415" cy="1234440"/>
          </a:xfrm>
          <a:prstGeom prst="rect">
            <a:avLst/>
          </a:prstGeom>
          <a:noFill/>
        </p:spPr>
        <p:txBody>
          <a:bodyPr wrap="square" anchor="b" lIns="45720" rIns="45720" tIns="27432" bIns="27432">
            <a:spAutoFit/>
          </a:bodyPr>
          <a:lstStyle/>
          <a:p>
            <a:pPr>
              <a:lnSpc>
                <a:spcPct val="100000"/>
              </a:lnSpc>
              <a:spcAft>
                <a:spcPts val="400"/>
              </a:spcAft>
            </a:pPr>
            <a:r>
              <a:rPr sz="1500" b="0" i="0">
                <a:solidFill>
                  <a:srgbClr val="666666"/>
                </a:solidFill>
                <a:latin typeface="Charter"/>
              </a:rPr>
              <a:t>Question 9: Do the model's internal activations carry the role?</a:t>
            </a:r>
          </a:p>
          <a:p>
            <a:pPr>
              <a:lnSpc>
                <a:spcPct val="100000"/>
              </a:lnSpc>
              <a:spcAft>
                <a:spcPts val="0"/>
              </a:spcAft>
            </a:pPr>
            <a:r>
              <a:rPr sz="2600" b="1" i="0">
                <a:solidFill>
                  <a:srgbClr val="222222"/>
                </a:solidFill>
                <a:latin typeface="Charter"/>
              </a:rPr>
              <a:t>The activations carry the role with the prompt in view, much less without it</a:t>
            </a:r>
          </a:p>
        </p:txBody>
      </p:sp>
      <p:sp>
        <p:nvSpPr>
          <p:cNvPr id="3" name="TextBox 2"/>
          <p:cNvSpPr txBox="1"/>
          <p:nvPr/>
        </p:nvSpPr>
        <p:spPr>
          <a:xfrm>
            <a:off x="11185855" y="6446520"/>
            <a:ext cx="548640" cy="274320"/>
          </a:xfrm>
          <a:prstGeom prst="rect">
            <a:avLst/>
          </a:prstGeom>
          <a:noFill/>
        </p:spPr>
        <p:txBody>
          <a:bodyPr wrap="square" anchor="t" lIns="45720" rIns="45720" tIns="27432" bIns="27432">
            <a:spAutoFit/>
          </a:bodyPr>
          <a:lstStyle/>
          <a:p>
            <a:pPr algn="r"/>
            <a:r>
              <a:rPr sz="1000" b="0" i="0">
                <a:solidFill>
                  <a:srgbClr val="666666"/>
                </a:solidFill>
                <a:latin typeface="Charter"/>
              </a:rPr>
              <a:t>8</a:t>
            </a:r>
          </a:p>
        </p:txBody>
      </p:sp>
      <p:pic>
        <p:nvPicPr>
          <p:cNvPr id="4" name="Picture 3" descr="fig6_internal_states_prompt_removed.png"/>
          <p:cNvPicPr>
            <a:picLocks noChangeAspect="1"/>
          </p:cNvPicPr>
          <p:nvPr/>
        </p:nvPicPr>
        <p:blipFill>
          <a:blip r:embed="rId2"/>
          <a:stretch>
            <a:fillRect/>
          </a:stretch>
        </p:blipFill>
        <p:spPr>
          <a:xfrm>
            <a:off x="411480" y="1463039"/>
            <a:ext cx="6697143" cy="5120640"/>
          </a:xfrm>
          <a:prstGeom prst="rect">
            <a:avLst/>
          </a:prstGeom>
        </p:spPr>
      </p:pic>
      <p:sp>
        <p:nvSpPr>
          <p:cNvPr id="5" name="TextBox 4"/>
          <p:cNvSpPr txBox="1"/>
          <p:nvPr/>
        </p:nvSpPr>
        <p:spPr>
          <a:xfrm>
            <a:off x="7474383" y="1508760"/>
            <a:ext cx="4260112" cy="5029200"/>
          </a:xfrm>
          <a:prstGeom prst="rect">
            <a:avLst/>
          </a:prstGeom>
          <a:noFill/>
        </p:spPr>
        <p:txBody>
          <a:bodyPr wrap="square" anchor="t" lIns="45720" rIns="45720" tIns="27432" bIns="27432">
            <a:spAutoFit/>
          </a:bodyPr>
          <a:lstStyle/>
          <a:p>
            <a:pPr>
              <a:lnSpc>
                <a:spcPct val="110000"/>
              </a:lnSpc>
              <a:spcAft>
                <a:spcPts val="1200"/>
              </a:spcAft>
            </a:pPr>
            <a:r>
              <a:rPr sz="1400" b="0" i="0">
                <a:solidFill>
                  <a:srgbClr val="666666"/>
                </a:solidFill>
                <a:latin typeface="Charter"/>
              </a:rPr>
              <a:t>A simple classifier reads the model's activations and picks which of the 20 roles was prompted. Chance is 5%.</a:t>
            </a:r>
          </a:p>
          <a:p>
            <a:pPr marL="256032" indent="-256032">
              <a:lnSpc>
                <a:spcPct val="110000"/>
              </a:lnSpc>
              <a:spcAft>
                <a:spcPts val="1200"/>
              </a:spcAft>
              <a:buClr>
                <a:srgbClr val="2F7F7A"/>
              </a:buClr>
              <a:buFont typeface="Arial"/>
              <a:buChar char="•"/>
            </a:pPr>
            <a:r>
              <a:rPr sz="1500" b="0" i="0">
                <a:solidFill>
                  <a:srgbClr val="222222"/>
                </a:solidFill>
                <a:latin typeface="Charter"/>
              </a:rPr>
              <a:t>Description only: 52.3% with the prompt in view, 15.2% with the description removed, and 91.8% from the prompt alone. So I can't yet say the reply itself carries the role.</a:t>
            </a:r>
          </a:p>
          <a:p>
            <a:pPr marL="256032" indent="-256032">
              <a:lnSpc>
                <a:spcPct val="110000"/>
              </a:lnSpc>
              <a:spcAft>
                <a:spcPts val="1200"/>
              </a:spcAft>
              <a:buClr>
                <a:srgbClr val="2F7F7A"/>
              </a:buClr>
              <a:buFont typeface="Arial"/>
              <a:buChar char="•"/>
            </a:pPr>
            <a:r>
              <a:rPr sz="1500" b="0" i="0">
                <a:solidFill>
                  <a:srgbClr val="222222"/>
                </a:solidFill>
                <a:latin typeface="Charter"/>
              </a:rPr>
              <a:t>Same-role examples: 58.6% with the prompt removed, against 44.3% from the reply's words and length. But the input layer alone already gives 50.1%.</a:t>
            </a:r>
          </a:p>
          <a:p>
            <a:pPr>
              <a:lnSpc>
                <a:spcPct val="110000"/>
              </a:lnSpc>
              <a:spcBef>
                <a:spcPts val="400"/>
              </a:spcBef>
              <a:spcAft>
                <a:spcPts val="1200"/>
              </a:spcAft>
            </a:pPr>
            <a:r>
              <a:rPr sz="1400" b="0" i="0">
                <a:solidFill>
                  <a:srgbClr val="2F7F7A"/>
                </a:solidFill>
                <a:latin typeface="Charter"/>
              </a:rPr>
              <a:t>First results. The same-role test on my pre-set rules is still running.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11094415" cy="1234440"/>
          </a:xfrm>
          <a:prstGeom prst="rect">
            <a:avLst/>
          </a:prstGeom>
          <a:noFill/>
        </p:spPr>
        <p:txBody>
          <a:bodyPr wrap="square" anchor="b" lIns="45720" rIns="45720" tIns="27432" bIns="27432">
            <a:spAutoFit/>
          </a:bodyPr>
          <a:lstStyle/>
          <a:p>
            <a:pPr>
              <a:lnSpc>
                <a:spcPct val="100000"/>
              </a:lnSpc>
              <a:spcAft>
                <a:spcPts val="400"/>
              </a:spcAft>
            </a:pPr>
            <a:r>
              <a:rPr sz="1500" b="0" i="0">
                <a:solidFill>
                  <a:srgbClr val="666666"/>
                </a:solidFill>
                <a:latin typeface="Charter"/>
              </a:rPr>
              <a:t>Question 7: How many replies are broken, and can a judge count them?</a:t>
            </a:r>
          </a:p>
          <a:p>
            <a:pPr>
              <a:lnSpc>
                <a:spcPct val="100000"/>
              </a:lnSpc>
              <a:spcAft>
                <a:spcPts val="0"/>
              </a:spcAft>
            </a:pPr>
            <a:r>
              <a:rPr sz="2600" b="1" i="0">
                <a:solidFill>
                  <a:srgbClr val="222222"/>
                </a:solidFill>
                <a:latin typeface="Charter"/>
              </a:rPr>
              <a:t>A judge marks 5-11% of replies as broken, but I can't trust it yet</a:t>
            </a:r>
          </a:p>
        </p:txBody>
      </p:sp>
      <p:sp>
        <p:nvSpPr>
          <p:cNvPr id="3" name="TextBox 2"/>
          <p:cNvSpPr txBox="1"/>
          <p:nvPr/>
        </p:nvSpPr>
        <p:spPr>
          <a:xfrm>
            <a:off x="11185855" y="6446520"/>
            <a:ext cx="548640" cy="274320"/>
          </a:xfrm>
          <a:prstGeom prst="rect">
            <a:avLst/>
          </a:prstGeom>
          <a:noFill/>
        </p:spPr>
        <p:txBody>
          <a:bodyPr wrap="square" anchor="t" lIns="45720" rIns="45720" tIns="27432" bIns="27432">
            <a:spAutoFit/>
          </a:bodyPr>
          <a:lstStyle/>
          <a:p>
            <a:pPr algn="r"/>
            <a:r>
              <a:rPr sz="1000" b="0" i="0">
                <a:solidFill>
                  <a:srgbClr val="666666"/>
                </a:solidFill>
                <a:latin typeface="Charter"/>
              </a:rPr>
              <a:t>9</a:t>
            </a:r>
          </a:p>
        </p:txBody>
      </p:sp>
      <p:pic>
        <p:nvPicPr>
          <p:cNvPr id="4" name="Picture 3" descr="fig4_broken_replies.png"/>
          <p:cNvPicPr>
            <a:picLocks noChangeAspect="1"/>
          </p:cNvPicPr>
          <p:nvPr/>
        </p:nvPicPr>
        <p:blipFill>
          <a:blip r:embed="rId2"/>
          <a:stretch>
            <a:fillRect/>
          </a:stretch>
        </p:blipFill>
        <p:spPr>
          <a:xfrm>
            <a:off x="411480" y="1554480"/>
            <a:ext cx="7047530" cy="4937760"/>
          </a:xfrm>
          <a:prstGeom prst="rect">
            <a:avLst/>
          </a:prstGeom>
        </p:spPr>
      </p:pic>
      <p:sp>
        <p:nvSpPr>
          <p:cNvPr id="5" name="TextBox 4"/>
          <p:cNvSpPr txBox="1"/>
          <p:nvPr/>
        </p:nvSpPr>
        <p:spPr>
          <a:xfrm>
            <a:off x="7824770" y="1783080"/>
            <a:ext cx="3909725" cy="4572000"/>
          </a:xfrm>
          <a:prstGeom prst="rect">
            <a:avLst/>
          </a:prstGeom>
          <a:noFill/>
        </p:spPr>
        <p:txBody>
          <a:bodyPr wrap="square" anchor="t" lIns="45720" rIns="45720" tIns="27432" bIns="27432">
            <a:spAutoFit/>
          </a:bodyPr>
          <a:lstStyle/>
          <a:p>
            <a:pPr marL="256032" indent="-256032">
              <a:lnSpc>
                <a:spcPct val="110000"/>
              </a:lnSpc>
              <a:spcAft>
                <a:spcPts val="2000"/>
              </a:spcAft>
              <a:buClr>
                <a:srgbClr val="2F7F7A"/>
              </a:buClr>
              <a:buFont typeface="Arial"/>
              <a:buChar char="•"/>
            </a:pPr>
            <a:r>
              <a:rPr sz="1700" b="0" i="0">
                <a:solidFill>
                  <a:srgbClr val="222222"/>
                </a:solidFill>
                <a:latin typeface="Charter"/>
              </a:rPr>
              <a:t>I wanted a judge's agreement with my own labels (kappa, where 0 is chance and 1 is perfect) to reach 0.6 on both of my label sets. No judge reached it, and these rates are likely too low.</a:t>
            </a:r>
          </a:p>
          <a:p>
            <a:pPr marL="256032" indent="-256032">
              <a:lnSpc>
                <a:spcPct val="110000"/>
              </a:lnSpc>
              <a:spcAft>
                <a:spcPts val="2000"/>
              </a:spcAft>
              <a:buClr>
                <a:srgbClr val="2F7F7A"/>
              </a:buClr>
              <a:buFont typeface="Arial"/>
              <a:buChar char="•"/>
            </a:pPr>
            <a:r>
              <a:rPr sz="1700" b="0" i="0">
                <a:solidFill>
                  <a:srgbClr val="222222"/>
                </a:solidFill>
                <a:latin typeface="Charter"/>
              </a:rPr>
              <a:t>About half the broken replies with same-role examples are the translator translating the question. One of the translator's two example answers does exactly that.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11094415" cy="1234440"/>
          </a:xfrm>
          <a:prstGeom prst="rect">
            <a:avLst/>
          </a:prstGeom>
          <a:noFill/>
        </p:spPr>
        <p:txBody>
          <a:bodyPr wrap="square" anchor="b" lIns="45720" rIns="45720" tIns="27432" bIns="27432">
            <a:spAutoFit/>
          </a:bodyPr>
          <a:lstStyle/>
          <a:p>
            <a:pPr>
              <a:lnSpc>
                <a:spcPct val="100000"/>
              </a:lnSpc>
              <a:spcAft>
                <a:spcPts val="400"/>
              </a:spcAft>
            </a:pPr>
            <a:r>
              <a:rPr sz="1500" b="0" i="0">
                <a:solidFill>
                  <a:srgbClr val="666666"/>
                </a:solidFill>
                <a:latin typeface="Charter"/>
              </a:rPr>
              <a:t>Question 8: Can an automatic judge score role play the way I do?</a:t>
            </a:r>
          </a:p>
          <a:p>
            <a:pPr>
              <a:lnSpc>
                <a:spcPct val="100000"/>
              </a:lnSpc>
              <a:spcAft>
                <a:spcPts val="0"/>
              </a:spcAft>
            </a:pPr>
            <a:r>
              <a:rPr sz="2600" b="1" i="0">
                <a:solidFill>
                  <a:srgbClr val="222222"/>
                </a:solidFill>
                <a:latin typeface="Charter"/>
              </a:rPr>
              <a:t>No automatic judge scores role play the way I do yet</a:t>
            </a:r>
          </a:p>
        </p:txBody>
      </p:sp>
      <p:sp>
        <p:nvSpPr>
          <p:cNvPr id="3" name="TextBox 2"/>
          <p:cNvSpPr txBox="1"/>
          <p:nvPr/>
        </p:nvSpPr>
        <p:spPr>
          <a:xfrm>
            <a:off x="11185855" y="6446520"/>
            <a:ext cx="548640" cy="274320"/>
          </a:xfrm>
          <a:prstGeom prst="rect">
            <a:avLst/>
          </a:prstGeom>
          <a:noFill/>
        </p:spPr>
        <p:txBody>
          <a:bodyPr wrap="square" anchor="t" lIns="45720" rIns="45720" tIns="27432" bIns="27432">
            <a:spAutoFit/>
          </a:bodyPr>
          <a:lstStyle/>
          <a:p>
            <a:pPr algn="r"/>
            <a:r>
              <a:rPr sz="1000" b="0" i="0">
                <a:solidFill>
                  <a:srgbClr val="666666"/>
                </a:solidFill>
                <a:latin typeface="Charter"/>
              </a:rPr>
              <a:t>10</a:t>
            </a:r>
          </a:p>
        </p:txBody>
      </p:sp>
      <p:sp>
        <p:nvSpPr>
          <p:cNvPr id="4" name="TextBox 3"/>
          <p:cNvSpPr txBox="1"/>
          <p:nvPr/>
        </p:nvSpPr>
        <p:spPr>
          <a:xfrm>
            <a:off x="548640" y="1554480"/>
            <a:ext cx="10637215" cy="914400"/>
          </a:xfrm>
          <a:prstGeom prst="rect">
            <a:avLst/>
          </a:prstGeom>
          <a:noFill/>
        </p:spPr>
        <p:txBody>
          <a:bodyPr wrap="square" anchor="t" lIns="45720" rIns="45720" tIns="27432" bIns="27432">
            <a:spAutoFit/>
          </a:bodyPr>
          <a:lstStyle/>
          <a:p>
            <a:pPr>
              <a:lnSpc>
                <a:spcPct val="110000"/>
              </a:lnSpc>
              <a:spcAft>
                <a:spcPts val="1000"/>
              </a:spcAft>
            </a:pPr>
            <a:r>
              <a:rPr sz="1800" b="0" i="0">
                <a:solidFill>
                  <a:srgbClr val="222222"/>
                </a:solidFill>
                <a:latin typeface="Charter"/>
              </a:rPr>
              <a:t>I scored 50 replies from 0 to 3 for how well they play a role, before looking at any judge output. My bar was agreement of at least 0.6 (weighted kappa: 0 is chance, 1 is perfect).</a:t>
            </a:r>
          </a:p>
        </p:txBody>
      </p:sp>
      <p:graphicFrame>
        <p:nvGraphicFramePr>
          <p:cNvPr id="5" name="Table 4"/>
          <p:cNvGraphicFramePr>
            <a:graphicFrameLocks noGrp="1"/>
          </p:cNvGraphicFramePr>
          <p:nvPr/>
        </p:nvGraphicFramePr>
        <p:xfrm>
          <a:off x="548640" y="2743200"/>
          <a:ext cx="11094415" cy="2057400"/>
        </p:xfrm>
        <a:graphic>
          <a:graphicData uri="http://schemas.openxmlformats.org/drawingml/2006/table">
            <a:tbl>
              <a:tblPr firstRow="0" bandRow="0">
                <a:tableStyleId>{2D5ABB26-0587-4C30-8999-92F81FD0307C}</a:tableStyleId>
              </a:tblPr>
              <a:tblGrid>
                <a:gridCol w="4023360"/>
                <a:gridCol w="2743200"/>
                <a:gridCol w="4327855"/>
              </a:tblGrid>
              <a:tr h="685800">
                <a:tc>
                  <a:txBody>
                    <a:bodyPr wrap="square"/>
                    <a:lstStyle/>
                    <a:p>
                      <a:pPr>
                        <a:lnSpc>
                          <a:spcPct val="100000"/>
                        </a:lnSpc>
                      </a:pPr>
                      <a:r>
                        <a:rPr sz="1800" b="1" i="0">
                          <a:solidFill>
                            <a:srgbClr val="2F7F7A"/>
                          </a:solidFill>
                          <a:latin typeface="Charter"/>
                        </a:rPr>
                        <a:t>Comparison</a:t>
                      </a:r>
                    </a:p>
                  </a:txBody>
                  <a:tcPr marL="73152" marR="73152" marT="45720" marB="45720" anchor="t">
                    <a:lnB w="12700" cap="flat" cmpd="sng" algn="ctr">
                      <a:solidFill>
                        <a:srgbClr val="2F7F7A"/>
                      </a:solidFill>
                      <a:prstDash val="solid"/>
                    </a:lnB>
                    <a:noFill/>
                  </a:tcPr>
                </a:tc>
                <a:tc>
                  <a:txBody>
                    <a:bodyPr wrap="square"/>
                    <a:lstStyle/>
                    <a:p>
                      <a:pPr>
                        <a:lnSpc>
                          <a:spcPct val="100000"/>
                        </a:lnSpc>
                      </a:pPr>
                      <a:r>
                        <a:rPr sz="1800" b="1" i="0">
                          <a:solidFill>
                            <a:srgbClr val="2F7F7A"/>
                          </a:solidFill>
                          <a:latin typeface="Charter"/>
                        </a:rPr>
                        <a:t>Agreement [95% interval]</a:t>
                      </a:r>
                    </a:p>
                  </a:txBody>
                  <a:tcPr marL="73152" marR="73152" marT="45720" marB="45720" anchor="t">
                    <a:lnB w="12700" cap="flat" cmpd="sng" algn="ctr">
                      <a:solidFill>
                        <a:srgbClr val="2F7F7A"/>
                      </a:solidFill>
                      <a:prstDash val="solid"/>
                    </a:lnB>
                    <a:noFill/>
                  </a:tcPr>
                </a:tc>
                <a:tc>
                  <a:txBody>
                    <a:bodyPr wrap="square"/>
                    <a:lstStyle/>
                    <a:p>
                      <a:pPr>
                        <a:lnSpc>
                          <a:spcPct val="100000"/>
                        </a:lnSpc>
                      </a:pPr>
                      <a:r>
                        <a:rPr sz="1800" b="1" i="0">
                          <a:solidFill>
                            <a:srgbClr val="2F7F7A"/>
                          </a:solidFill>
                          <a:latin typeface="Charter"/>
                        </a:rPr>
                        <a:t>What it means</a:t>
                      </a:r>
                    </a:p>
                  </a:txBody>
                  <a:tcPr marL="73152" marR="73152" marT="45720" marB="45720" anchor="t">
                    <a:lnB w="12700" cap="flat" cmpd="sng" algn="ctr">
                      <a:solidFill>
                        <a:srgbClr val="2F7F7A"/>
                      </a:solidFill>
                      <a:prstDash val="solid"/>
                    </a:lnB>
                    <a:noFill/>
                  </a:tcPr>
                </a:tc>
              </a:tr>
              <a:tr h="685800">
                <a:tc>
                  <a:txBody>
                    <a:bodyPr wrap="square"/>
                    <a:lstStyle/>
                    <a:p>
                      <a:pPr>
                        <a:lnSpc>
                          <a:spcPct val="100000"/>
                        </a:lnSpc>
                      </a:pPr>
                      <a:r>
                        <a:rPr sz="1800" b="0" i="0">
                          <a:solidFill>
                            <a:srgbClr val="222222"/>
                          </a:solidFill>
                          <a:latin typeface="Charter"/>
                        </a:rPr>
                        <a:t>Jev, a ready-made judge model, vs my first scores</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800" b="0" i="0">
                          <a:solidFill>
                            <a:srgbClr val="222222"/>
                          </a:solidFill>
                          <a:latin typeface="Charter"/>
                        </a:rPr>
                        <a:t>0.41 [0.21, 0.57]</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800" b="0" i="0">
                          <a:solidFill>
                            <a:srgbClr val="222222"/>
                          </a:solidFill>
                          <a:latin typeface="Charter"/>
                        </a:rPr>
                        <a:t>Under my 0.6 bar, so I can't use it</a:t>
                      </a:r>
                    </a:p>
                  </a:txBody>
                  <a:tcPr marL="73152" marR="73152" marT="45720" marB="45720" anchor="t">
                    <a:lnB w="12700" cap="flat" cmpd="sng" algn="ctr">
                      <a:solidFill>
                        <a:srgbClr val="BBBBBB"/>
                      </a:solidFill>
                      <a:prstDash val="solid"/>
                    </a:lnB>
                    <a:noFill/>
                  </a:tcPr>
                </a:tc>
              </a:tr>
              <a:tr h="685800">
                <a:tc>
                  <a:txBody>
                    <a:bodyPr wrap="square"/>
                    <a:lstStyle/>
                    <a:p>
                      <a:pPr>
                        <a:lnSpc>
                          <a:spcPct val="100000"/>
                        </a:lnSpc>
                      </a:pPr>
                      <a:r>
                        <a:rPr sz="1800" b="0" i="0">
                          <a:solidFill>
                            <a:srgbClr val="222222"/>
                          </a:solidFill>
                          <a:latin typeface="Charter"/>
                        </a:rPr>
                        <a:t>Jev vs my scores after I revised my scale</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800" b="0" i="0">
                          <a:solidFill>
                            <a:srgbClr val="222222"/>
                          </a:solidFill>
                          <a:latin typeface="Charter"/>
                        </a:rPr>
                        <a:t>0.69 [0.49, 0.82]</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800" b="0" i="0">
                          <a:solidFill>
                            <a:srgbClr val="222222"/>
                          </a:solidFill>
                          <a:latin typeface="Charter"/>
                        </a:rPr>
                        <a:t>A first look only, because I had already seen Jev's scores</a:t>
                      </a:r>
                    </a:p>
                  </a:txBody>
                  <a:tcPr marL="73152" marR="73152" marT="45720" marB="45720" anchor="t">
                    <a:lnB w="12700" cap="flat" cmpd="sng" algn="ctr">
                      <a:solidFill>
                        <a:srgbClr val="BBBBBB"/>
                      </a:solidFill>
                      <a:prstDash val="solid"/>
                    </a:lnB>
                    <a:noFill/>
                  </a:tcPr>
                </a:tc>
              </a:tr>
            </a:tbl>
          </a:graphicData>
        </a:graphic>
      </p:graphicFrame>
      <p:sp>
        <p:nvSpPr>
          <p:cNvPr id="6" name="TextBox 5"/>
          <p:cNvSpPr txBox="1"/>
          <p:nvPr/>
        </p:nvSpPr>
        <p:spPr>
          <a:xfrm>
            <a:off x="548640" y="5166360"/>
            <a:ext cx="10637215" cy="914400"/>
          </a:xfrm>
          <a:prstGeom prst="rect">
            <a:avLst/>
          </a:prstGeom>
          <a:noFill/>
        </p:spPr>
        <p:txBody>
          <a:bodyPr wrap="square" anchor="t" lIns="45720" rIns="45720" tIns="27432" bIns="27432">
            <a:spAutoFit/>
          </a:bodyPr>
          <a:lstStyle/>
          <a:p>
            <a:pPr>
              <a:lnSpc>
                <a:spcPct val="110000"/>
              </a:lnSpc>
              <a:spcAft>
                <a:spcPts val="1000"/>
              </a:spcAft>
            </a:pPr>
            <a:r>
              <a:rPr sz="1600" b="0" i="0">
                <a:solidFill>
                  <a:srgbClr val="666666"/>
                </a:solidFill>
                <a:latin typeface="Charter"/>
              </a:rPr>
              <a:t>My first scale had a problem too: replies scored against a distant role got 1.57 on average, more than close roles at 1.13.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11094415" cy="1234440"/>
          </a:xfrm>
          <a:prstGeom prst="rect">
            <a:avLst/>
          </a:prstGeom>
          <a:noFill/>
        </p:spPr>
        <p:txBody>
          <a:bodyPr wrap="square" anchor="b" lIns="45720" rIns="45720" tIns="27432" bIns="27432">
            <a:spAutoFit/>
          </a:bodyPr>
          <a:lstStyle/>
          <a:p>
            <a:pPr>
              <a:lnSpc>
                <a:spcPct val="100000"/>
              </a:lnSpc>
              <a:spcAft>
                <a:spcPts val="400"/>
              </a:spcAft>
            </a:pPr>
            <a:r>
              <a:rPr sz="1500" b="0" i="0">
                <a:solidFill>
                  <a:srgbClr val="666666"/>
                </a:solidFill>
                <a:latin typeface="Charter"/>
              </a:rPr>
              <a:t>Questions 1 and 2: Were my September results valid? Can a small base model play roles?</a:t>
            </a:r>
          </a:p>
          <a:p>
            <a:pPr>
              <a:lnSpc>
                <a:spcPct val="100000"/>
              </a:lnSpc>
              <a:spcAft>
                <a:spcPts val="0"/>
              </a:spcAft>
            </a:pPr>
            <a:r>
              <a:rPr sz="2600" b="1" i="0">
                <a:solidFill>
                  <a:srgbClr val="222222"/>
                </a:solidFill>
                <a:latin typeface="Charter"/>
              </a:rPr>
              <a:t>Before this: my September base results were invalid, and the 1B model only partly worked</a:t>
            </a:r>
          </a:p>
        </p:txBody>
      </p:sp>
      <p:sp>
        <p:nvSpPr>
          <p:cNvPr id="3" name="TextBox 2"/>
          <p:cNvSpPr txBox="1"/>
          <p:nvPr/>
        </p:nvSpPr>
        <p:spPr>
          <a:xfrm>
            <a:off x="11185855" y="6446520"/>
            <a:ext cx="548640" cy="274320"/>
          </a:xfrm>
          <a:prstGeom prst="rect">
            <a:avLst/>
          </a:prstGeom>
          <a:noFill/>
        </p:spPr>
        <p:txBody>
          <a:bodyPr wrap="square" anchor="t" lIns="45720" rIns="45720" tIns="27432" bIns="27432">
            <a:spAutoFit/>
          </a:bodyPr>
          <a:lstStyle/>
          <a:p>
            <a:pPr algn="r"/>
            <a:r>
              <a:rPr sz="1000" b="0" i="0">
                <a:solidFill>
                  <a:srgbClr val="666666"/>
                </a:solidFill>
                <a:latin typeface="Charter"/>
              </a:rPr>
              <a:t>11</a:t>
            </a:r>
          </a:p>
        </p:txBody>
      </p:sp>
      <p:sp>
        <p:nvSpPr>
          <p:cNvPr id="4" name="TextBox 3"/>
          <p:cNvSpPr txBox="1"/>
          <p:nvPr/>
        </p:nvSpPr>
        <p:spPr>
          <a:xfrm>
            <a:off x="548640" y="1600200"/>
            <a:ext cx="4297680" cy="4846320"/>
          </a:xfrm>
          <a:prstGeom prst="rect">
            <a:avLst/>
          </a:prstGeom>
          <a:noFill/>
        </p:spPr>
        <p:txBody>
          <a:bodyPr wrap="square" anchor="t" lIns="45720" rIns="45720" tIns="27432" bIns="27432">
            <a:spAutoFit/>
          </a:bodyPr>
          <a:lstStyle/>
          <a:p>
            <a:pPr>
              <a:lnSpc>
                <a:spcPct val="110000"/>
              </a:lnSpc>
              <a:spcAft>
                <a:spcPts val="600"/>
              </a:spcAft>
            </a:pPr>
            <a:r>
              <a:rPr sz="1600" b="1" i="0">
                <a:solidFill>
                  <a:srgbClr val="2F7F7A"/>
                </a:solidFill>
                <a:latin typeface="Charter"/>
              </a:rPr>
              <a:t>September results</a:t>
            </a:r>
          </a:p>
          <a:p>
            <a:pPr marL="256032" indent="-256032">
              <a:lnSpc>
                <a:spcPct val="110000"/>
              </a:lnSpc>
              <a:spcAft>
                <a:spcPts val="1000"/>
              </a:spcAft>
              <a:buClr>
                <a:srgbClr val="2F7F7A"/>
              </a:buClr>
              <a:buFont typeface="Arial"/>
              <a:buChar char="•"/>
            </a:pPr>
            <a:r>
              <a:rPr sz="1500" b="0" i="0">
                <a:solidFill>
                  <a:srgbClr val="222222"/>
                </a:solidFill>
                <a:latin typeface="Charter"/>
              </a:rPr>
              <a:t>Blind judges found the right character in their top 5 for 0.7% to 1.4% of base-model replies, against 1.8% for random guessing. The prompt was a chat format the base models had never seen.</a:t>
            </a:r>
          </a:p>
          <a:p>
            <a:pPr marL="256032" indent="-256032">
              <a:lnSpc>
                <a:spcPct val="110000"/>
              </a:lnSpc>
              <a:spcAft>
                <a:spcPts val="1000"/>
              </a:spcAft>
              <a:buClr>
                <a:srgbClr val="2F7F7A"/>
              </a:buClr>
              <a:buFont typeface="Arial"/>
              <a:buChar char="•"/>
            </a:pPr>
            <a:r>
              <a:rPr sz="1500" b="0" i="0">
                <a:solidFill>
                  <a:srgbClr val="222222"/>
                </a:solidFill>
                <a:latin typeface="Charter"/>
              </a:rPr>
              <a:t>Example turns I added on 14/08 stopped a trained 1B model from playing roles: 55.4% without them, 2.9% with them.</a:t>
            </a:r>
          </a:p>
          <a:p>
            <a:pPr>
              <a:lnSpc>
                <a:spcPct val="110000"/>
              </a:lnSpc>
              <a:spcBef>
                <a:spcPts val="800"/>
              </a:spcBef>
              <a:spcAft>
                <a:spcPts val="600"/>
              </a:spcAft>
            </a:pPr>
            <a:r>
              <a:rPr sz="1600" b="1" i="0">
                <a:solidFill>
                  <a:srgbClr val="2F7F7A"/>
                </a:solidFill>
                <a:latin typeface="Charter"/>
              </a:rPr>
              <a:t>The 1B base model (right)</a:t>
            </a:r>
          </a:p>
          <a:p>
            <a:pPr marL="256032" indent="-256032">
              <a:lnSpc>
                <a:spcPct val="110000"/>
              </a:lnSpc>
              <a:spcAft>
                <a:spcPts val="1000"/>
              </a:spcAft>
              <a:buClr>
                <a:srgbClr val="2F7F7A"/>
              </a:buClr>
              <a:buFont typeface="Arial"/>
              <a:buChar char="•"/>
            </a:pPr>
            <a:r>
              <a:rPr sz="1500" b="0" i="0">
                <a:solidFill>
                  <a:srgbClr val="222222"/>
                </a:solidFill>
                <a:latin typeface="Charter"/>
              </a:rPr>
              <a:t>Well above the 2% chance level, but it fell short of my rule on example set 2. I treat it as a first look.</a:t>
            </a:r>
          </a:p>
        </p:txBody>
      </p:sp>
      <p:pic>
        <p:nvPicPr>
          <p:cNvPr id="5" name="Picture 4" descr="fig5_e0_1b.png"/>
          <p:cNvPicPr>
            <a:picLocks noChangeAspect="1"/>
          </p:cNvPicPr>
          <p:nvPr/>
        </p:nvPicPr>
        <p:blipFill>
          <a:blip r:embed="rId2"/>
          <a:stretch>
            <a:fillRect/>
          </a:stretch>
        </p:blipFill>
        <p:spPr>
          <a:xfrm>
            <a:off x="5166359" y="1554480"/>
            <a:ext cx="6756881" cy="49834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11094415" cy="1234440"/>
          </a:xfrm>
          <a:prstGeom prst="rect">
            <a:avLst/>
          </a:prstGeom>
          <a:noFill/>
        </p:spPr>
        <p:txBody>
          <a:bodyPr wrap="square" anchor="b" lIns="45720" rIns="45720" tIns="27432" bIns="27432">
            <a:spAutoFit/>
          </a:bodyPr>
          <a:lstStyle/>
          <a:p>
            <a:pPr>
              <a:lnSpc>
                <a:spcPct val="100000"/>
              </a:lnSpc>
              <a:spcAft>
                <a:spcPts val="400"/>
              </a:spcAft>
            </a:pPr>
            <a:r>
              <a:rPr sz="1500" b="0" i="0">
                <a:solidFill>
                  <a:srgbClr val="666666"/>
                </a:solidFill>
                <a:latin typeface="Charter"/>
              </a:rPr>
              <a:t>Weak points</a:t>
            </a:r>
          </a:p>
          <a:p>
            <a:pPr>
              <a:lnSpc>
                <a:spcPct val="100000"/>
              </a:lnSpc>
              <a:spcAft>
                <a:spcPts val="0"/>
              </a:spcAft>
            </a:pPr>
            <a:r>
              <a:rPr sz="2600" b="1" i="0">
                <a:solidFill>
                  <a:srgbClr val="222222"/>
                </a:solidFill>
                <a:latin typeface="Charter"/>
              </a:rPr>
              <a:t>One judge chose the examples and scored the replies, and nobody has checked by hand</a:t>
            </a:r>
          </a:p>
        </p:txBody>
      </p:sp>
      <p:sp>
        <p:nvSpPr>
          <p:cNvPr id="3" name="TextBox 2"/>
          <p:cNvSpPr txBox="1"/>
          <p:nvPr/>
        </p:nvSpPr>
        <p:spPr>
          <a:xfrm>
            <a:off x="11185855" y="6446520"/>
            <a:ext cx="548640" cy="274320"/>
          </a:xfrm>
          <a:prstGeom prst="rect">
            <a:avLst/>
          </a:prstGeom>
          <a:noFill/>
        </p:spPr>
        <p:txBody>
          <a:bodyPr wrap="square" anchor="t" lIns="45720" rIns="45720" tIns="27432" bIns="27432">
            <a:spAutoFit/>
          </a:bodyPr>
          <a:lstStyle/>
          <a:p>
            <a:pPr algn="r"/>
            <a:r>
              <a:rPr sz="1000" b="0" i="0">
                <a:solidFill>
                  <a:srgbClr val="666666"/>
                </a:solidFill>
                <a:latin typeface="Charter"/>
              </a:rPr>
              <a:t>12</a:t>
            </a:r>
          </a:p>
        </p:txBody>
      </p:sp>
      <p:sp>
        <p:nvSpPr>
          <p:cNvPr id="4" name="TextBox 3"/>
          <p:cNvSpPr txBox="1"/>
          <p:nvPr/>
        </p:nvSpPr>
        <p:spPr>
          <a:xfrm>
            <a:off x="548640" y="1600200"/>
            <a:ext cx="10362895" cy="4846320"/>
          </a:xfrm>
          <a:prstGeom prst="rect">
            <a:avLst/>
          </a:prstGeom>
          <a:noFill/>
        </p:spPr>
        <p:txBody>
          <a:bodyPr wrap="square" anchor="t" lIns="45720" rIns="45720" tIns="27432" bIns="27432">
            <a:spAutoFit/>
          </a:bodyPr>
          <a:lstStyle/>
          <a:p>
            <a:pPr marL="256032" indent="-256032">
              <a:lnSpc>
                <a:spcPct val="110000"/>
              </a:lnSpc>
              <a:spcAft>
                <a:spcPts val="1200"/>
              </a:spcAft>
              <a:buClr>
                <a:srgbClr val="2F7F7A"/>
              </a:buClr>
              <a:buFont typeface="Arial"/>
              <a:buChar char="•"/>
            </a:pPr>
            <a:r>
              <a:rPr sz="1900" b="0" i="0">
                <a:solidFill>
                  <a:srgbClr val="222222"/>
                </a:solidFill>
                <a:latin typeface="Charter"/>
              </a:rPr>
              <a:t>The GPT judge picked the example answers and then scored the replies. Claude agrees with GPT, but both judges read the same replies.</a:t>
            </a:r>
          </a:p>
          <a:p>
            <a:pPr marL="256032" indent="-256032">
              <a:lnSpc>
                <a:spcPct val="110000"/>
              </a:lnSpc>
              <a:spcAft>
                <a:spcPts val="1200"/>
              </a:spcAft>
              <a:buClr>
                <a:srgbClr val="2F7F7A"/>
              </a:buClr>
              <a:buFont typeface="Arial"/>
              <a:buChar char="•"/>
            </a:pPr>
            <a:r>
              <a:rPr sz="1900" b="0" i="0">
                <a:solidFill>
                  <a:srgbClr val="222222"/>
                </a:solidFill>
                <a:latin typeface="Charter"/>
              </a:rPr>
              <a:t>The 20 roles are a selected subset, and the examples were chosen to be easy to name. Nothing here is about all 276 roles.</a:t>
            </a:r>
          </a:p>
          <a:p>
            <a:pPr marL="256032" indent="-256032">
              <a:lnSpc>
                <a:spcPct val="110000"/>
              </a:lnSpc>
              <a:spcAft>
                <a:spcPts val="1200"/>
              </a:spcAft>
              <a:buClr>
                <a:srgbClr val="2F7F7A"/>
              </a:buClr>
              <a:buFont typeface="Arial"/>
              <a:buChar char="•"/>
            </a:pPr>
            <a:r>
              <a:rPr sz="1900" b="0" i="0">
                <a:solidFill>
                  <a:srgbClr val="222222"/>
                </a:solidFill>
                <a:latin typeface="Charter"/>
              </a:rPr>
              <a:t>Nobody has checked the role guesses by hand yet.</a:t>
            </a:r>
          </a:p>
          <a:p>
            <a:pPr marL="256032" indent="-256032">
              <a:lnSpc>
                <a:spcPct val="110000"/>
              </a:lnSpc>
              <a:spcAft>
                <a:spcPts val="1200"/>
              </a:spcAft>
              <a:buClr>
                <a:srgbClr val="2F7F7A"/>
              </a:buClr>
              <a:buFont typeface="Arial"/>
              <a:buChar char="•"/>
            </a:pPr>
            <a:r>
              <a:rPr sz="1900" b="0" i="0">
                <a:solidFill>
                  <a:srgbClr val="222222"/>
                </a:solidFill>
                <a:latin typeface="Charter"/>
              </a:rPr>
              <a:t>The same-role result misses my bar on the second sample for one judge by 0.2 points.</a:t>
            </a:r>
          </a:p>
          <a:p>
            <a:pPr marL="256032" indent="-256032">
              <a:lnSpc>
                <a:spcPct val="110000"/>
              </a:lnSpc>
              <a:spcAft>
                <a:spcPts val="1200"/>
              </a:spcAft>
              <a:buClr>
                <a:srgbClr val="2F7F7A"/>
              </a:buClr>
              <a:buFont typeface="Arial"/>
              <a:buChar char="•"/>
            </a:pPr>
            <a:r>
              <a:rPr sz="1900" b="0" i="0">
                <a:solidFill>
                  <a:srgbClr val="222222"/>
                </a:solidFill>
                <a:latin typeface="Charter"/>
              </a:rPr>
              <a:t>The broken-reply definition changed after I saw the data, and no judge passed my agreement bar.</a:t>
            </a:r>
          </a:p>
          <a:p>
            <a:pPr marL="256032" indent="-256032">
              <a:lnSpc>
                <a:spcPct val="110000"/>
              </a:lnSpc>
              <a:spcAft>
                <a:spcPts val="1200"/>
              </a:spcAft>
              <a:buClr>
                <a:srgbClr val="2F7F7A"/>
              </a:buClr>
              <a:buFont typeface="Arial"/>
              <a:buChar char="•"/>
            </a:pPr>
            <a:r>
              <a:rPr sz="1900" b="0" i="0">
                <a:solidFill>
                  <a:srgbClr val="222222"/>
                </a:solidFill>
                <a:latin typeface="Charter"/>
              </a:rPr>
              <a:t>The activation results show the role can be read with the prompt in view. They don't show where personas come from in training.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11094415" cy="1234440"/>
          </a:xfrm>
          <a:prstGeom prst="rect">
            <a:avLst/>
          </a:prstGeom>
          <a:noFill/>
        </p:spPr>
        <p:txBody>
          <a:bodyPr wrap="square" anchor="b" lIns="45720" rIns="45720" tIns="27432" bIns="27432">
            <a:spAutoFit/>
          </a:bodyPr>
          <a:lstStyle/>
          <a:p>
            <a:pPr>
              <a:lnSpc>
                <a:spcPct val="100000"/>
              </a:lnSpc>
              <a:spcAft>
                <a:spcPts val="400"/>
              </a:spcAft>
            </a:pPr>
            <a:r>
              <a:rPr sz="1500" b="0" i="0">
                <a:solidFill>
                  <a:srgbClr val="666666"/>
                </a:solidFill>
                <a:latin typeface="Charter"/>
              </a:rPr>
              <a:t>Plan for next week (times are rough guesses)</a:t>
            </a:r>
          </a:p>
          <a:p>
            <a:pPr>
              <a:lnSpc>
                <a:spcPct val="100000"/>
              </a:lnSpc>
              <a:spcAft>
                <a:spcPts val="0"/>
              </a:spcAft>
            </a:pPr>
            <a:r>
              <a:rPr sz="2600" b="1" i="0">
                <a:solidFill>
                  <a:srgbClr val="222222"/>
                </a:solidFill>
                <a:latin typeface="Charter"/>
              </a:rPr>
              <a:t>Next week I want to finish the activation results and check the guesses by hand</a:t>
            </a:r>
          </a:p>
        </p:txBody>
      </p:sp>
      <p:sp>
        <p:nvSpPr>
          <p:cNvPr id="3" name="TextBox 2"/>
          <p:cNvSpPr txBox="1"/>
          <p:nvPr/>
        </p:nvSpPr>
        <p:spPr>
          <a:xfrm>
            <a:off x="11185855" y="6446520"/>
            <a:ext cx="548640" cy="274320"/>
          </a:xfrm>
          <a:prstGeom prst="rect">
            <a:avLst/>
          </a:prstGeom>
          <a:noFill/>
        </p:spPr>
        <p:txBody>
          <a:bodyPr wrap="square" anchor="t" lIns="45720" rIns="45720" tIns="27432" bIns="27432">
            <a:spAutoFit/>
          </a:bodyPr>
          <a:lstStyle/>
          <a:p>
            <a:pPr algn="r"/>
            <a:r>
              <a:rPr sz="1000" b="0" i="0">
                <a:solidFill>
                  <a:srgbClr val="666666"/>
                </a:solidFill>
                <a:latin typeface="Charter"/>
              </a:rPr>
              <a:t>13</a:t>
            </a:r>
          </a:p>
        </p:txBody>
      </p:sp>
      <p:graphicFrame>
        <p:nvGraphicFramePr>
          <p:cNvPr id="4" name="Table 3"/>
          <p:cNvGraphicFramePr>
            <a:graphicFrameLocks noGrp="1"/>
          </p:cNvGraphicFramePr>
          <p:nvPr/>
        </p:nvGraphicFramePr>
        <p:xfrm>
          <a:off x="548640" y="1600200"/>
          <a:ext cx="11094415" cy="3429000"/>
        </p:xfrm>
        <a:graphic>
          <a:graphicData uri="http://schemas.openxmlformats.org/drawingml/2006/table">
            <a:tbl>
              <a:tblPr firstRow="0" bandRow="0">
                <a:tableStyleId>{2D5ABB26-0587-4C30-8999-92F81FD0307C}</a:tableStyleId>
              </a:tblPr>
              <a:tblGrid>
                <a:gridCol w="7985455"/>
                <a:gridCol w="3108960"/>
              </a:tblGrid>
              <a:tr h="685800">
                <a:tc>
                  <a:txBody>
                    <a:bodyPr wrap="square"/>
                    <a:lstStyle/>
                    <a:p>
                      <a:pPr>
                        <a:lnSpc>
                          <a:spcPct val="100000"/>
                        </a:lnSpc>
                      </a:pPr>
                      <a:r>
                        <a:rPr sz="1800" b="1" i="0">
                          <a:solidFill>
                            <a:srgbClr val="2F7F7A"/>
                          </a:solidFill>
                          <a:latin typeface="Charter"/>
                        </a:rPr>
                        <a:t>Task</a:t>
                      </a:r>
                    </a:p>
                  </a:txBody>
                  <a:tcPr marL="73152" marR="73152" marT="45720" marB="45720" anchor="t">
                    <a:lnB w="12700" cap="flat" cmpd="sng" algn="ctr">
                      <a:solidFill>
                        <a:srgbClr val="2F7F7A"/>
                      </a:solidFill>
                      <a:prstDash val="solid"/>
                    </a:lnB>
                    <a:noFill/>
                  </a:tcPr>
                </a:tc>
                <a:tc>
                  <a:txBody>
                    <a:bodyPr wrap="square"/>
                    <a:lstStyle/>
                    <a:p>
                      <a:pPr>
                        <a:lnSpc>
                          <a:spcPct val="100000"/>
                        </a:lnSpc>
                      </a:pPr>
                      <a:r>
                        <a:rPr sz="1800" b="1" i="0">
                          <a:solidFill>
                            <a:srgbClr val="2F7F7A"/>
                          </a:solidFill>
                          <a:latin typeface="Charter"/>
                        </a:rPr>
                        <a:t>Rough time</a:t>
                      </a:r>
                    </a:p>
                  </a:txBody>
                  <a:tcPr marL="73152" marR="73152" marT="45720" marB="45720" anchor="t">
                    <a:lnB w="12700" cap="flat" cmpd="sng" algn="ctr">
                      <a:solidFill>
                        <a:srgbClr val="2F7F7A"/>
                      </a:solidFill>
                      <a:prstDash val="solid"/>
                    </a:lnB>
                    <a:noFill/>
                  </a:tcPr>
                </a:tc>
              </a:tr>
              <a:tr h="685800">
                <a:tc>
                  <a:txBody>
                    <a:bodyPr wrap="square"/>
                    <a:lstStyle/>
                    <a:p>
                      <a:pPr>
                        <a:lnSpc>
                          <a:spcPct val="100000"/>
                        </a:lnSpc>
                      </a:pPr>
                      <a:r>
                        <a:rPr sz="1800" b="0" i="0">
                          <a:solidFill>
                            <a:srgbClr val="222222"/>
                          </a:solidFill>
                          <a:latin typeface="Charter"/>
                        </a:rPr>
                        <a:t>Finish the activation results and write them up</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800" b="0" i="0">
                          <a:solidFill>
                            <a:srgbClr val="222222"/>
                          </a:solidFill>
                          <a:latin typeface="Charter"/>
                        </a:rPr>
                        <a:t>1 day</a:t>
                      </a:r>
                    </a:p>
                  </a:txBody>
                  <a:tcPr marL="73152" marR="73152" marT="45720" marB="45720" anchor="t">
                    <a:lnB w="12700" cap="flat" cmpd="sng" algn="ctr">
                      <a:solidFill>
                        <a:srgbClr val="BBBBBB"/>
                      </a:solidFill>
                      <a:prstDash val="solid"/>
                    </a:lnB>
                    <a:noFill/>
                  </a:tcPr>
                </a:tc>
              </a:tr>
              <a:tr h="685800">
                <a:tc>
                  <a:txBody>
                    <a:bodyPr wrap="square"/>
                    <a:lstStyle/>
                    <a:p>
                      <a:pPr>
                        <a:lnSpc>
                          <a:spcPct val="100000"/>
                        </a:lnSpc>
                      </a:pPr>
                      <a:r>
                        <a:rPr sz="1800" b="0" i="0">
                          <a:solidFill>
                            <a:srgbClr val="222222"/>
                          </a:solidFill>
                          <a:latin typeface="Charter"/>
                        </a:rPr>
                        <a:t>Check the role guesses by hand on about 100 replies, blind to the judges</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800" b="0" i="0">
                          <a:solidFill>
                            <a:srgbClr val="222222"/>
                          </a:solidFill>
                          <a:latin typeface="Charter"/>
                        </a:rPr>
                        <a:t>Half a day</a:t>
                      </a:r>
                    </a:p>
                  </a:txBody>
                  <a:tcPr marL="73152" marR="73152" marT="45720" marB="45720" anchor="t">
                    <a:lnB w="12700" cap="flat" cmpd="sng" algn="ctr">
                      <a:solidFill>
                        <a:srgbClr val="BBBBBB"/>
                      </a:solidFill>
                      <a:prstDash val="solid"/>
                    </a:lnB>
                    <a:noFill/>
                  </a:tcPr>
                </a:tc>
              </a:tr>
              <a:tr h="685800">
                <a:tc>
                  <a:txBody>
                    <a:bodyPr wrap="square"/>
                    <a:lstStyle/>
                    <a:p>
                      <a:pPr>
                        <a:lnSpc>
                          <a:spcPct val="100000"/>
                        </a:lnSpc>
                      </a:pPr>
                      <a:r>
                        <a:rPr sz="1800" b="0" i="0">
                          <a:solidFill>
                            <a:srgbClr val="222222"/>
                          </a:solidFill>
                          <a:latin typeface="Charter"/>
                        </a:rPr>
                        <a:t>Settle the two open broken-reply cases (toddler replies that tell a story instead of answering, translator replies that translate the question), then redo the role-guessing scores with the new labels</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800" b="0" i="0">
                          <a:solidFill>
                            <a:srgbClr val="222222"/>
                          </a:solidFill>
                          <a:latin typeface="Charter"/>
                        </a:rPr>
                        <a:t>2 hours</a:t>
                      </a:r>
                    </a:p>
                  </a:txBody>
                  <a:tcPr marL="73152" marR="73152" marT="45720" marB="45720" anchor="t">
                    <a:lnB w="12700" cap="flat" cmpd="sng" algn="ctr">
                      <a:solidFill>
                        <a:srgbClr val="BBBBBB"/>
                      </a:solidFill>
                      <a:prstDash val="solid"/>
                    </a:lnB>
                    <a:noFill/>
                  </a:tcPr>
                </a:tc>
              </a:tr>
              <a:tr h="685800">
                <a:tc>
                  <a:txBody>
                    <a:bodyPr wrap="square"/>
                    <a:lstStyle/>
                    <a:p>
                      <a:pPr>
                        <a:lnSpc>
                          <a:spcPct val="100000"/>
                        </a:lnSpc>
                      </a:pPr>
                      <a:r>
                        <a:rPr sz="1800" b="0" i="0">
                          <a:solidFill>
                            <a:srgbClr val="222222"/>
                          </a:solidFill>
                          <a:latin typeface="Charter"/>
                        </a:rPr>
                        <a:t>Agree the base-model prompt with Ivan, then run the trained models with the same prompt</a:t>
                      </a:r>
                    </a:p>
                  </a:txBody>
                  <a:tcPr marL="73152" marR="73152" marT="45720" marB="45720" anchor="t">
                    <a:lnB w="12700" cap="flat" cmpd="sng" algn="ctr">
                      <a:solidFill>
                        <a:srgbClr val="BBBBBB"/>
                      </a:solidFill>
                      <a:prstDash val="solid"/>
                    </a:lnB>
                    <a:noFill/>
                  </a:tcPr>
                </a:tc>
                <a:tc>
                  <a:txBody>
                    <a:bodyPr wrap="square"/>
                    <a:lstStyle/>
                    <a:p>
                      <a:pPr>
                        <a:lnSpc>
                          <a:spcPct val="100000"/>
                        </a:lnSpc>
                      </a:pPr>
                      <a:r>
                        <a:rPr sz="1800" b="0" i="0">
                          <a:solidFill>
                            <a:srgbClr val="222222"/>
                          </a:solidFill>
                          <a:latin typeface="Charter"/>
                        </a:rPr>
                        <a:t>2 to 3 days with the GPU machine</a:t>
                      </a:r>
                    </a:p>
                  </a:txBody>
                  <a:tcPr marL="73152" marR="73152" marT="45720" marB="45720" anchor="t">
                    <a:lnB w="12700" cap="flat" cmpd="sng" algn="ctr">
                      <a:solidFill>
                        <a:srgbClr val="BBBBBB"/>
                      </a:solidFill>
                      <a:prstDash val="solid"/>
                    </a:lnB>
                    <a:no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
            <a:ext cx="11094415" cy="1234440"/>
          </a:xfrm>
          <a:prstGeom prst="rect">
            <a:avLst/>
          </a:prstGeom>
          <a:noFill/>
        </p:spPr>
        <p:txBody>
          <a:bodyPr wrap="square" anchor="b" lIns="45720" rIns="45720" tIns="27432" bIns="27432">
            <a:spAutoFit/>
          </a:bodyPr>
          <a:lstStyle/>
          <a:p>
            <a:pPr>
              <a:lnSpc>
                <a:spcPct val="100000"/>
              </a:lnSpc>
              <a:spcAft>
                <a:spcPts val="400"/>
              </a:spcAft>
            </a:pPr>
            <a:r>
              <a:rPr sz="1500" b="0" i="0">
                <a:solidFill>
                  <a:srgbClr val="666666"/>
                </a:solidFill>
                <a:latin typeface="Charter"/>
              </a:rPr>
              <a:t>Questions for Ivan</a:t>
            </a:r>
          </a:p>
          <a:p>
            <a:pPr>
              <a:lnSpc>
                <a:spcPct val="100000"/>
              </a:lnSpc>
              <a:spcAft>
                <a:spcPts val="0"/>
              </a:spcAft>
            </a:pPr>
            <a:r>
              <a:rPr sz="2600" b="1" i="0">
                <a:solidFill>
                  <a:srgbClr val="222222"/>
                </a:solidFill>
                <a:latin typeface="Charter"/>
              </a:rPr>
              <a:t>I'd like your view on three questions before I run the trained models</a:t>
            </a:r>
          </a:p>
        </p:txBody>
      </p:sp>
      <p:sp>
        <p:nvSpPr>
          <p:cNvPr id="3" name="TextBox 2"/>
          <p:cNvSpPr txBox="1"/>
          <p:nvPr/>
        </p:nvSpPr>
        <p:spPr>
          <a:xfrm>
            <a:off x="11185855" y="6446520"/>
            <a:ext cx="548640" cy="274320"/>
          </a:xfrm>
          <a:prstGeom prst="rect">
            <a:avLst/>
          </a:prstGeom>
          <a:noFill/>
        </p:spPr>
        <p:txBody>
          <a:bodyPr wrap="square" anchor="t" lIns="45720" rIns="45720" tIns="27432" bIns="27432">
            <a:spAutoFit/>
          </a:bodyPr>
          <a:lstStyle/>
          <a:p>
            <a:pPr algn="r"/>
            <a:r>
              <a:rPr sz="1000" b="0" i="0">
                <a:solidFill>
                  <a:srgbClr val="666666"/>
                </a:solidFill>
                <a:latin typeface="Charter"/>
              </a:rPr>
              <a:t>14</a:t>
            </a:r>
          </a:p>
        </p:txBody>
      </p:sp>
      <p:sp>
        <p:nvSpPr>
          <p:cNvPr id="4" name="TextBox 3"/>
          <p:cNvSpPr txBox="1"/>
          <p:nvPr/>
        </p:nvSpPr>
        <p:spPr>
          <a:xfrm>
            <a:off x="548640" y="1645919"/>
            <a:ext cx="10728655" cy="4846320"/>
          </a:xfrm>
          <a:prstGeom prst="rect">
            <a:avLst/>
          </a:prstGeom>
          <a:noFill/>
        </p:spPr>
        <p:txBody>
          <a:bodyPr wrap="square" anchor="t" lIns="45720" rIns="45720" tIns="27432" bIns="27432">
            <a:spAutoFit/>
          </a:bodyPr>
          <a:lstStyle/>
          <a:p>
            <a:pPr marL="411480" indent="-411480">
              <a:lnSpc>
                <a:spcPct val="110000"/>
              </a:lnSpc>
              <a:spcAft>
                <a:spcPts val="2200"/>
              </a:spcAft>
            </a:pPr>
            <a:r>
              <a:rPr sz="2100" b="1" i="0">
                <a:solidFill>
                  <a:srgbClr val="2F7F7A"/>
                </a:solidFill>
                <a:latin typeface="Charter"/>
              </a:rPr>
              <a:t>1.	</a:t>
            </a:r>
            <a:r>
              <a:rPr sz="2100" b="0" i="0">
                <a:solidFill>
                  <a:srgbClr val="222222"/>
                </a:solidFill>
                <a:latin typeface="Charter"/>
              </a:rPr>
              <a:t>The same-role prompt mostly measures how well the base model follows example answers. Is that good enough for the base model's side of the comparison, or should it use the description alone and accept the lower rate?</a:t>
            </a:r>
          </a:p>
          <a:p>
            <a:pPr marL="411480" indent="-411480">
              <a:lnSpc>
                <a:spcPct val="110000"/>
              </a:lnSpc>
              <a:spcAft>
                <a:spcPts val="2200"/>
              </a:spcAft>
            </a:pPr>
            <a:r>
              <a:rPr sz="2100" b="1" i="0">
                <a:solidFill>
                  <a:srgbClr val="2F7F7A"/>
                </a:solidFill>
                <a:latin typeface="Charter"/>
              </a:rPr>
              <a:t>2.	</a:t>
            </a:r>
            <a:r>
              <a:rPr sz="2100" b="0" i="0">
                <a:solidFill>
                  <a:srgbClr val="222222"/>
                </a:solidFill>
                <a:latin typeface="Charter"/>
              </a:rPr>
              <a:t>If I keep the examples, should the trained models get exactly the same prompt, so only the model changes?</a:t>
            </a:r>
          </a:p>
          <a:p>
            <a:pPr marL="411480" indent="-411480">
              <a:lnSpc>
                <a:spcPct val="110000"/>
              </a:lnSpc>
              <a:spcAft>
                <a:spcPts val="2200"/>
              </a:spcAft>
            </a:pPr>
            <a:r>
              <a:rPr sz="2100" b="1" i="0">
                <a:solidFill>
                  <a:srgbClr val="2F7F7A"/>
                </a:solidFill>
                <a:latin typeface="Charter"/>
              </a:rPr>
              <a:t>3.	</a:t>
            </a:r>
            <a:r>
              <a:rPr sz="2100" b="0" i="0">
                <a:solidFill>
                  <a:srgbClr val="222222"/>
                </a:solidFill>
                <a:latin typeface="Charter"/>
              </a:rPr>
              <a:t>Is the blind role-guessing test enough to say a model plays a role, given that no judge has matched my own role-play scores yet?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